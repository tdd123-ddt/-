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docProps/core.xml" ContentType="application/vnd.openxmlformats-package.core-properties+xml"/>
  <Override PartName="/ppt/slides/slide7.xml" ContentType="application/vnd.openxmlformats-officedocument.presentationml.slide+xml"/>
  <Override PartName="/ppt/viewProps.xml" ContentType="application/vnd.openxmlformats-officedocument.presentationml.viewProps+xml"/>
  <Override PartName="/ppt/slides/slide1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slides/slide10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tableStyles.xml" ContentType="application/vnd.openxmlformats-officedocument.presentationml.tableStyle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</Types>
</file>

<file path=_rels/.rels><?xml version="1.0" encoding="UTF-8" standalone="yes"?><Relationships xmlns="http://schemas.openxmlformats.org/package/2006/relationships"><Relationship Id="rId2" Type="http://schemas.openxmlformats.org/officeDocument/2006/relationships/extended-properties" Target="docProps/app.xml" /><Relationship Id="rId0" Type="http://schemas.openxmlformats.org/officeDocument/2006/relationships/officeDocument" Target="ppt/presentation.xml" /><Relationship Id="rId1" Type="http://schemas.openxmlformats.org/package/2006/relationships/metadata/core-properties" Target="docProps/core.xml" /></Relationships>
</file>

<file path=ppt/presentation.xml><?xml version="1.0" encoding="utf-8"?>
<p:presentation xmlns:p="http://schemas.openxmlformats.org/presentationml/2006/main" xmlns:r="http://schemas.openxmlformats.org/officeDocument/2006/relationships" xmlns:a="http://schemas.openxmlformats.org/drawingml/2006/main" firstSlideNum="1">
  <p:sldMasterIdLst>
    <p:sldMasterId id="2147483648" r:id="rId0"/>
  </p:sldMasterIdLst>
  <p:notesMasterIdLst>
    <p:notesMasterId r:id="rId14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2" Type="http://schemas.openxmlformats.org/officeDocument/2006/relationships/slide" Target="slides/slide12.xml" /><Relationship Id="rId0" Type="http://schemas.openxmlformats.org/officeDocument/2006/relationships/slideMaster" Target="slideMasters/slideMaster1.xml" /><Relationship Id="rId11" Type="http://schemas.openxmlformats.org/officeDocument/2006/relationships/slide" Target="slides/slide11.xml" /><Relationship Id="rId1" Type="http://schemas.openxmlformats.org/officeDocument/2006/relationships/slide" Target="slides/slide1.xml" /><Relationship Id="rId17" Type="http://schemas.openxmlformats.org/officeDocument/2006/relationships/viewProps" Target="viewProps.xml" /><Relationship Id="rId15" Type="http://schemas.openxmlformats.org/officeDocument/2006/relationships/presProps" Target="presProps.xml" /><Relationship Id="rId10" Type="http://schemas.openxmlformats.org/officeDocument/2006/relationships/slide" Target="slides/slide10.xml" /><Relationship Id="rId13" Type="http://schemas.openxmlformats.org/officeDocument/2006/relationships/slide" Target="slides/slide13.xml" /><Relationship Id="rId14" Type="http://schemas.openxmlformats.org/officeDocument/2006/relationships/notesMaster" Target="notesMasters/notesMaster1.xml" /><Relationship Id="rId16" Type="http://schemas.openxmlformats.org/officeDocument/2006/relationships/tableStyles" Target="tableStyles.xml" /><Relationship Id="rId2" Type="http://schemas.openxmlformats.org/officeDocument/2006/relationships/slide" Target="slides/slide2.xml" /><Relationship Id="rId3" Type="http://schemas.openxmlformats.org/officeDocument/2006/relationships/slide" Target="slides/slide3.xml" /><Relationship Id="rId4" Type="http://schemas.openxmlformats.org/officeDocument/2006/relationships/slide" Target="slides/slide4.xml" /><Relationship Id="rId5" Type="http://schemas.openxmlformats.org/officeDocument/2006/relationships/slide" Target="slides/slide5.xml" /><Relationship Id="rId6" Type="http://schemas.openxmlformats.org/officeDocument/2006/relationships/slide" Target="slides/slide6.xml" /><Relationship Id="rId7" Type="http://schemas.openxmlformats.org/officeDocument/2006/relationships/slide" Target="slides/slide7.xml" /><Relationship Id="rId8" Type="http://schemas.openxmlformats.org/officeDocument/2006/relationships/slide" Target="slides/slide8.xml" /><Relationship Id="rId9" Type="http://schemas.openxmlformats.org/officeDocument/2006/relationships/slide" Target="slides/slide9.xml" /></Relationships>
</file>

<file path=ppt/notesMasters/_rels/notesMaster1.xml.rels><?xml version="1.0" encoding="UTF-8" standalone="yes"?><Relationships xmlns="http://schemas.openxmlformats.org/package/2006/relationships"><Relationship Id="rId0" Type="http://schemas.openxmlformats.org/officeDocument/2006/relationships/theme" Target="../theme/theme2.xml" 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<Relationships xmlns="http://schemas.openxmlformats.org/package/2006/relationships"><Relationship Id="rId0" Type="http://schemas.openxmlformats.org/officeDocument/2006/relationships/slideMaster" Target="../slideMasters/slideMaster1.xml" 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Relationship Id="rId1" Type="http://schemas.openxmlformats.org/officeDocument/2006/relationships/theme" Target="../theme/theme1.xml" /></Relationships>
</file>

<file path=ppt/slideMasters/slideMaster1.xml><?xml version="1.0" encoding="utf-8"?>
<p:sldMaster xmlns:p="http://schemas.openxmlformats.org/presentationml/2006/main" xmlns:r="http://schemas.openxmlformats.org/officeDocument/2006/relationships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4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5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6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7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8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9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0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1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2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_rels/slide13.xml.rels><?xml version="1.0" encoding="UTF-8" standalone="yes"?><Relationships xmlns="http://schemas.openxmlformats.org/package/2006/relationships"><Relationship Id="rId0" Type="http://schemas.openxmlformats.org/officeDocument/2006/relationships/slideLayout" Target="../slideLayouts/slideLayout1.xml" 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A365D"/>
              </a:gs>
              <a:gs pos="55000">
                <a:srgbClr val="2B6CB0"/>
              </a:gs>
              <a:gs pos="100000">
                <a:srgbClr val="38B2AC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3" name=""/>
          <p:cNvSpPr/>
          <p:nvPr/>
        </p:nvSpPr>
        <p:spPr>
          <a:xfrm rot="0" flipH="0" flipV="0">
            <a:off x="7429500" y="381000"/>
            <a:ext cx="4381500" cy="4381500"/>
          </a:xfrm>
          <a:custGeom>
            <a:pathLst>
              <a:path w="460" h="460">
                <a:moveTo>
                  <a:pt x="230" y="0"/>
                </a:moveTo>
                <a:lnTo>
                  <a:pt x="230" y="0"/>
                </a:lnTo>
                <a:cubicBezTo>
                  <a:pt x="357" y="0"/>
                  <a:pt x="460" y="103"/>
                  <a:pt x="460" y="230"/>
                </a:cubicBezTo>
                <a:lnTo>
                  <a:pt x="460" y="230"/>
                </a:lnTo>
                <a:cubicBezTo>
                  <a:pt x="460" y="357"/>
                  <a:pt x="357" y="460"/>
                  <a:pt x="230" y="460"/>
                </a:cubicBezTo>
                <a:lnTo>
                  <a:pt x="230" y="460"/>
                </a:lnTo>
                <a:cubicBezTo>
                  <a:pt x="103" y="460"/>
                  <a:pt x="0" y="357"/>
                  <a:pt x="0" y="230"/>
                </a:cubicBezTo>
                <a:lnTo>
                  <a:pt x="0" y="230"/>
                </a:lnTo>
                <a:cubicBezTo>
                  <a:pt x="0" y="103"/>
                  <a:pt x="103" y="0"/>
                  <a:pt x="230" y="0"/>
                </a:cubicBezTo>
                <a:close/>
              </a:path>
            </a:pathLst>
          </a:custGeom>
          <a:solidFill>
            <a:srgbClr val="38B2AC">
              <a:alpha val="125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4" name=""/>
          <p:cNvSpPr/>
          <p:nvPr/>
        </p:nvSpPr>
        <p:spPr>
          <a:xfrm rot="0" flipH="0" flipV="0">
            <a:off x="381000" y="1524000"/>
            <a:ext cx="4953000" cy="4953000"/>
          </a:xfrm>
          <a:custGeom>
            <a:pathLst>
              <a:path w="520" h="520">
                <a:moveTo>
                  <a:pt x="260" y="0"/>
                </a:moveTo>
                <a:lnTo>
                  <a:pt x="260" y="0"/>
                </a:lnTo>
                <a:cubicBezTo>
                  <a:pt x="403" y="0"/>
                  <a:pt x="520" y="117"/>
                  <a:pt x="520" y="260"/>
                </a:cubicBezTo>
                <a:lnTo>
                  <a:pt x="520" y="260"/>
                </a:lnTo>
                <a:cubicBezTo>
                  <a:pt x="520" y="403"/>
                  <a:pt x="403" y="520"/>
                  <a:pt x="260" y="520"/>
                </a:cubicBezTo>
                <a:lnTo>
                  <a:pt x="260" y="520"/>
                </a:lnTo>
                <a:cubicBezTo>
                  <a:pt x="117" y="520"/>
                  <a:pt x="0" y="403"/>
                  <a:pt x="0" y="260"/>
                </a:cubicBezTo>
                <a:lnTo>
                  <a:pt x="0" y="260"/>
                </a:lnTo>
                <a:cubicBezTo>
                  <a:pt x="0" y="117"/>
                  <a:pt x="117" y="0"/>
                  <a:pt x="260" y="0"/>
                </a:cubicBezTo>
                <a:close/>
              </a:path>
            </a:pathLst>
          </a:custGeom>
          <a:solidFill>
            <a:srgbClr val="2B6CB0">
              <a:alpha val="1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5" name=""/>
          <p:cNvSpPr/>
          <p:nvPr/>
        </p:nvSpPr>
        <p:spPr>
          <a:xfrm rot="0" flipH="0" flipV="0">
            <a:off x="8382000" y="1714500"/>
            <a:ext cx="2667000" cy="19050"/>
          </a:xfrm>
          <a:prstGeom prst="rect">
            <a:avLst/>
          </a:prstGeom>
          <a:solidFill>
            <a:srgbClr val="FFFFFF">
              <a:alpha val="25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6" name=""/>
          <p:cNvSpPr/>
          <p:nvPr/>
        </p:nvSpPr>
        <p:spPr>
          <a:xfrm rot="0" flipH="0" flipV="0">
            <a:off x="8001000" y="3048000"/>
            <a:ext cx="3619500" cy="19050"/>
          </a:xfrm>
          <a:prstGeom prst="rect">
            <a:avLst/>
          </a:prstGeom>
          <a:solidFill>
            <a:srgbClr val="FFFFFF">
              <a:alpha val="18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7" name=""/>
          <p:cNvSpPr/>
          <p:nvPr/>
        </p:nvSpPr>
        <p:spPr>
          <a:xfrm rot="0" flipH="0" flipV="0">
            <a:off x="10191750" y="2476500"/>
            <a:ext cx="95250" cy="95250"/>
          </a:xfrm>
          <a:custGeom>
            <a:pathLst>
              <a:path w="10" h="10">
                <a:moveTo>
                  <a:pt x="5" y="0"/>
                </a:moveTo>
                <a:lnTo>
                  <a:pt x="5" y="0"/>
                </a:lnTo>
                <a:cubicBezTo>
                  <a:pt x="8" y="0"/>
                  <a:pt x="10" y="2"/>
                  <a:pt x="10" y="5"/>
                </a:cubicBezTo>
                <a:lnTo>
                  <a:pt x="10" y="5"/>
                </a:lnTo>
                <a:cubicBezTo>
                  <a:pt x="10" y="8"/>
                  <a:pt x="8" y="10"/>
                  <a:pt x="5" y="10"/>
                </a:cubicBezTo>
                <a:lnTo>
                  <a:pt x="5" y="10"/>
                </a:lnTo>
                <a:cubicBezTo>
                  <a:pt x="2" y="10"/>
                  <a:pt x="0" y="8"/>
                  <a:pt x="0" y="5"/>
                </a:cubicBezTo>
                <a:lnTo>
                  <a:pt x="0" y="5"/>
                </a:lnTo>
                <a:cubicBezTo>
                  <a:pt x="0" y="2"/>
                  <a:pt x="2" y="0"/>
                  <a:pt x="5" y="0"/>
                </a:cubicBezTo>
                <a:close/>
              </a:path>
            </a:pathLst>
          </a:custGeom>
          <a:solidFill>
            <a:srgbClr val="38B2AC"/>
          </a:solidFill>
          <a:ln/>
        </p:spPr>
        <p:txBody>
          <a:bodyPr/>
          <a:p>
            <a:pPr/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8896350" y="1905000"/>
            <a:ext cx="57150" cy="57150"/>
          </a:xfrm>
          <a:custGeom>
            <a:pathLst>
              <a:path w="6" h="6">
                <a:moveTo>
                  <a:pt x="3" y="0"/>
                </a:moveTo>
                <a:lnTo>
                  <a:pt x="3" y="0"/>
                </a:lnTo>
                <a:cubicBezTo>
                  <a:pt x="5" y="0"/>
                  <a:pt x="6" y="1"/>
                  <a:pt x="6" y="3"/>
                </a:cubicBezTo>
                <a:lnTo>
                  <a:pt x="6" y="3"/>
                </a:lnTo>
                <a:cubicBezTo>
                  <a:pt x="6" y="5"/>
                  <a:pt x="5" y="6"/>
                  <a:pt x="3" y="6"/>
                </a:cubicBezTo>
                <a:lnTo>
                  <a:pt x="3" y="6"/>
                </a:lnTo>
                <a:cubicBezTo>
                  <a:pt x="1" y="6"/>
                  <a:pt x="0" y="5"/>
                  <a:pt x="0" y="3"/>
                </a:cubicBezTo>
                <a:lnTo>
                  <a:pt x="0" y="3"/>
                </a:lnTo>
                <a:cubicBezTo>
                  <a:pt x="0" y="1"/>
                  <a:pt x="1" y="0"/>
                  <a:pt x="3" y="0"/>
                </a:cubicBezTo>
                <a:close/>
              </a:path>
            </a:pathLst>
          </a:custGeom>
          <a:solidFill>
            <a:srgbClr val="FFFFFF">
              <a:alpha val="60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9" name="" descr="{&quot;isTemplate&quot;:true,&quot;type&quot;:&quot;text&quot;}"/>
          <p:cNvSpPr txBox="1"/>
          <p:nvPr/>
        </p:nvSpPr>
        <p:spPr>
          <a:xfrm rot="0" flipH="0" flipV="0">
            <a:off x="762000" y="1924050"/>
            <a:ext cx="106680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spc="300">
                <a:solidFill>
                  <a:srgbClr val="7FD1CD"/>
                </a:solidFill>
                <a:latin typeface="Microsoft YaHei"/>
                <a:ea typeface="Microsoft YaHei"/>
              </a:rPr>
              <a:t>AI </a:t>
            </a:r>
            <a:r>
              <a:rPr lang="zh-CN" sz="1500" spc="300">
                <a:solidFill>
                  <a:srgbClr val="7FD1CD"/>
                </a:solidFill>
                <a:latin typeface="Microsoft YaHei"/>
                <a:ea typeface="Microsoft YaHei"/>
              </a:rPr>
              <a:t>编程赛</a:t>
            </a:r>
            <a:r>
              <a:rPr lang="en-US" sz="1500" spc="300">
                <a:solidFill>
                  <a:srgbClr val="7FD1CD"/>
                </a:solidFill>
                <a:latin typeface="Microsoft YaHei"/>
                <a:ea typeface="Microsoft YaHei"/>
              </a:rPr>
              <a:t> · </a:t>
            </a:r>
            <a:r>
              <a:rPr lang="zh-CN" sz="1500" spc="300">
                <a:solidFill>
                  <a:srgbClr val="7FD1CD"/>
                </a:solidFill>
                <a:latin typeface="Microsoft YaHei"/>
                <a:ea typeface="Microsoft YaHei"/>
              </a:rPr>
              <a:t>赛道四</a:t>
            </a:r>
            <a:r>
              <a:rPr lang="en-US" sz="1500" spc="300">
                <a:solidFill>
                  <a:srgbClr val="7FD1CD"/>
                </a:solidFill>
                <a:latin typeface="Microsoft YaHei"/>
                <a:ea typeface="Microsoft YaHei"/>
              </a:rPr>
              <a:t> </a:t>
            </a:r>
            <a:r>
              <a:rPr lang="zh-CN" sz="1500" spc="300">
                <a:solidFill>
                  <a:srgbClr val="7FD1CD"/>
                </a:solidFill>
                <a:latin typeface="Microsoft YaHei"/>
                <a:ea typeface="Microsoft YaHei"/>
              </a:rPr>
              <a:t>课题</a:t>
            </a:r>
            <a:r>
              <a:rPr lang="en-US" sz="1500" spc="300">
                <a:solidFill>
                  <a:srgbClr val="7FD1CD"/>
                </a:solidFill>
                <a:latin typeface="Microsoft YaHei"/>
                <a:ea typeface="Microsoft YaHei"/>
              </a:rPr>
              <a:t> 2</a:t>
            </a:r>
            <a:endParaRPr/>
          </a:p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762000" y="2381250"/>
            <a:ext cx="10668000" cy="914400"/>
          </a:xfrm>
          <a:prstGeom prst="rect"/>
        </p:spPr>
        <p:txBody>
          <a:bodyPr wrap="none" lIns="0" tIns="0" rIns="0" bIns="0"/>
          <a:p>
            <a:pPr>
              <a:lnSpc>
                <a:spcPct val="125000"/>
              </a:lnSpc>
            </a:pPr>
            <a:r>
              <a:rPr lang="zh-CN" sz="4800" b="1">
                <a:solidFill>
                  <a:srgbClr val="FFFFFF"/>
                </a:solidFill>
                <a:latin typeface="Microsoft YaHei"/>
                <a:ea typeface="Microsoft YaHei"/>
              </a:rPr>
              <a:t>医护洞察与温度指引引擎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762000" y="3562350"/>
            <a:ext cx="6858000" cy="476250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950">
                <a:solidFill>
                  <a:srgbClr val="FFFFFF">
                    <a:alpha val="92000"/>
                  </a:srgbClr>
                </a:solidFill>
                <a:latin typeface="Microsoft YaHei"/>
                <a:ea typeface="Microsoft YaHei"/>
              </a:rPr>
              <a:t>把冷冰冰的理赔病历，转译成患者</a:t>
            </a:r>
            <a:r>
              <a:rPr lang="zh-CN" sz="1950">
                <a:solidFill>
                  <a:srgbClr val="FFFFFF">
                    <a:alpha val="92000"/>
                  </a:srgbClr>
                </a:solidFill>
                <a:latin typeface="Microsoft YaHei"/>
                <a:ea typeface="Microsoft YaHei"/>
              </a:rPr>
              <a:t>看得懂、用得上的温度指引</a:t>
            </a:r>
            <a:endParaRPr/>
          </a:p>
        </p:txBody>
      </p:sp>
      <p:sp>
        <p:nvSpPr>
          <p:cNvPr id="12" name=""/>
          <p:cNvSpPr/>
          <p:nvPr/>
        </p:nvSpPr>
        <p:spPr>
          <a:xfrm rot="0" flipH="0" flipV="0">
            <a:off x="762000" y="4495800"/>
            <a:ext cx="2428875" cy="438150"/>
          </a:xfrm>
          <a:prstGeom prst="roundRect">
            <a:avLst>
              <a:gd name="adj" fmla="val 1739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990600" y="4610100"/>
            <a:ext cx="197167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结构化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痛点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指引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画像</a:t>
            </a:r>
            <a:endParaRPr/>
          </a:p>
        </p:txBody>
      </p:sp>
      <p:sp>
        <p:nvSpPr>
          <p:cNvPr id="14" name=""/>
          <p:cNvSpPr/>
          <p:nvPr/>
        </p:nvSpPr>
        <p:spPr>
          <a:xfrm rot="0" flipH="0" flipV="0">
            <a:off x="3343275" y="4495800"/>
            <a:ext cx="2486025" cy="438150"/>
          </a:xfrm>
          <a:prstGeom prst="roundRect">
            <a:avLst>
              <a:gd name="adj" fmla="val 17391"/>
            </a:avLst>
          </a:prstGeom>
          <a:solidFill>
            <a:srgbClr val="FFFFFF">
              <a:alpha val="12000"/>
            </a:srgbClr>
          </a:solidFill>
          <a:ln w="12700">
            <a:solidFill>
              <a:srgbClr val="FFFFFF">
                <a:alpha val="25000"/>
              </a:srgbClr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5" name="" descr="{&quot;isTemplate&quot;:true,&quot;type&quot;:&quot;text&quot;}"/>
          <p:cNvSpPr txBox="1"/>
          <p:nvPr/>
        </p:nvSpPr>
        <p:spPr>
          <a:xfrm rot="0" flipH="0" flipV="0">
            <a:off x="3571875" y="4610100"/>
            <a:ext cx="20288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四模块全链路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> · 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数据可溯源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1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13" name="" descr="{&quot;isTemplate&quot;:true,&quot;type&quot;:&quot;text&quot;}"/>
          <p:cNvSpPr txBox="1"/>
          <p:nvPr/>
        </p:nvSpPr>
        <p:spPr>
          <a:xfrm rot="0" flipH="0" flipV="0">
            <a:off x="762000" y="571500"/>
            <a:ext cx="685800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700" b="1">
                <a:solidFill>
                  <a:srgbClr val="1A365D"/>
                </a:solidFill>
                <a:latin typeface="Microsoft YaHei"/>
                <a:ea typeface="Microsoft YaHei"/>
              </a:rPr>
              <a:t>目录</a:t>
            </a:r>
            <a:endParaRPr/>
          </a:p>
        </p:txBody>
      </p:sp>
      <p:sp>
        <p:nvSpPr>
          <p:cNvPr id="114" name="" descr="{&quot;isTemplate&quot;:true,&quot;type&quot;:&quot;text&quot;}"/>
          <p:cNvSpPr txBox="1"/>
          <p:nvPr/>
        </p:nvSpPr>
        <p:spPr>
          <a:xfrm rot="0" flipH="0" flipV="0">
            <a:off x="1600200" y="571500"/>
            <a:ext cx="9239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718096"/>
                </a:solidFill>
                <a:latin typeface="Microsoft YaHei"/>
                <a:ea typeface="Microsoft YaHei"/>
              </a:rPr>
              <a:t>CONTENTS</a:t>
            </a:r>
            <a:endParaRPr/>
          </a:p>
        </p:txBody>
      </p:sp>
      <p:sp>
        <p:nvSpPr>
          <p:cNvPr id="115" name=""/>
          <p:cNvSpPr/>
          <p:nvPr/>
        </p:nvSpPr>
        <p:spPr>
          <a:xfrm rot="0" flipH="0" flipV="0">
            <a:off x="762000" y="1447800"/>
            <a:ext cx="3352800" cy="4410075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00000">
                <a:alpha val="6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1143000" y="1828800"/>
            <a:ext cx="2590800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38B2AC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17" name="" descr="{&quot;isTemplate&quot;:true,&quot;type&quot;:&quot;text&quot;}"/>
          <p:cNvSpPr txBox="1"/>
          <p:nvPr/>
        </p:nvSpPr>
        <p:spPr>
          <a:xfrm rot="0" flipH="0" flipV="0">
            <a:off x="1143000" y="2752725"/>
            <a:ext cx="25908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1A365D"/>
                </a:solidFill>
                <a:latin typeface="Microsoft YaHei"/>
                <a:ea typeface="Microsoft YaHei"/>
              </a:rPr>
              <a:t>定位与架构</a:t>
            </a:r>
            <a:endParaRPr/>
          </a:p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1143000" y="3228975"/>
            <a:ext cx="2590800" cy="1104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一句话定位与四模块全链路架构，以及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 OCR + LLM +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规则的三层技术路线</a:t>
            </a:r>
            <a:endParaRPr/>
          </a:p>
        </p:txBody>
      </p:sp>
      <p:sp>
        <p:nvSpPr>
          <p:cNvPr id="119" name=""/>
          <p:cNvSpPr/>
          <p:nvPr/>
        </p:nvSpPr>
        <p:spPr>
          <a:xfrm rot="0" flipH="0" flipV="0">
            <a:off x="4419600" y="1447800"/>
            <a:ext cx="3352800" cy="4410075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00000">
                <a:alpha val="6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20" name="" descr="{&quot;isTemplate&quot;:true,&quot;type&quot;:&quot;text&quot;}"/>
          <p:cNvSpPr txBox="1"/>
          <p:nvPr/>
        </p:nvSpPr>
        <p:spPr>
          <a:xfrm rot="0" flipH="0" flipV="0">
            <a:off x="4800600" y="1828800"/>
            <a:ext cx="2590800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38B2AC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21" name="" descr="{&quot;isTemplate&quot;:true,&quot;type&quot;:&quot;text&quot;}"/>
          <p:cNvSpPr txBox="1"/>
          <p:nvPr/>
        </p:nvSpPr>
        <p:spPr>
          <a:xfrm rot="0" flipH="0" flipV="0">
            <a:off x="4800600" y="2752725"/>
            <a:ext cx="25908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1A365D"/>
                </a:solidFill>
                <a:latin typeface="Microsoft YaHei"/>
                <a:ea typeface="Microsoft YaHei"/>
              </a:rPr>
              <a:t>效果验证</a:t>
            </a:r>
            <a:endParaRPr/>
          </a:p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4800600" y="3228975"/>
            <a:ext cx="2590800" cy="11049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KR1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结构化硬指标、温度指引盲评、品质画像维度，全部用官方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 70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案实测数字说话</a:t>
            </a:r>
            <a:endParaRPr/>
          </a:p>
        </p:txBody>
      </p:sp>
      <p:sp>
        <p:nvSpPr>
          <p:cNvPr id="123" name=""/>
          <p:cNvSpPr/>
          <p:nvPr/>
        </p:nvSpPr>
        <p:spPr>
          <a:xfrm rot="0" flipH="0" flipV="0">
            <a:off x="8077200" y="1447800"/>
            <a:ext cx="3352800" cy="4410075"/>
          </a:xfrm>
          <a:prstGeom prst="roundRect">
            <a:avLst>
              <a:gd name="adj" fmla="val 454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90500" dist="38100" dir="5400000">
              <a:srgbClr val="000000">
                <a:alpha val="6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124" name="" descr="{&quot;isTemplate&quot;:true,&quot;type&quot;:&quot;text&quot;}"/>
          <p:cNvSpPr txBox="1"/>
          <p:nvPr/>
        </p:nvSpPr>
        <p:spPr>
          <a:xfrm rot="0" flipH="0" flipV="0">
            <a:off x="8458200" y="1828800"/>
            <a:ext cx="2590800" cy="7334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4800" b="1">
                <a:solidFill>
                  <a:srgbClr val="38B2AC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25" name="" descr="{&quot;isTemplate&quot;:true,&quot;type&quot;:&quot;text&quot;}"/>
          <p:cNvSpPr txBox="1"/>
          <p:nvPr/>
        </p:nvSpPr>
        <p:spPr>
          <a:xfrm rot="0" flipH="0" flipV="0">
            <a:off x="8458200" y="2752725"/>
            <a:ext cx="25908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1A365D"/>
                </a:solidFill>
                <a:latin typeface="Microsoft YaHei"/>
                <a:ea typeface="Microsoft YaHei"/>
              </a:rPr>
              <a:t>落地与合规</a:t>
            </a:r>
            <a:endParaRPr/>
          </a:p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8458200" y="3228975"/>
            <a:ext cx="2590800" cy="7334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三条触达路径、反馈闭环，以及数据合规与</a:t>
            </a:r>
            <a:r>
              <a:rPr lang="en-US" sz="1500">
                <a:solidFill>
                  <a:srgbClr val="4A5568"/>
                </a:solidFill>
                <a:latin typeface="Microsoft YaHei"/>
                <a:ea typeface="Microsoft YaHei"/>
              </a:rPr>
              <a:t> AI </a:t>
            </a:r>
            <a:r>
              <a:rPr lang="zh-CN" sz="1500">
                <a:solidFill>
                  <a:srgbClr val="4A5568"/>
                </a:solidFill>
                <a:latin typeface="Microsoft YaHei"/>
                <a:ea typeface="Microsoft YaHei"/>
              </a:rPr>
              <a:t>原生度自证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762000" y="6124575"/>
            <a:ext cx="1466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医护洞察与温度指引引擎</a:t>
            </a:r>
            <a:endParaRPr/>
          </a:p>
        </p:txBody>
      </p:sp>
      <p:sp>
        <p:nvSpPr>
          <p:cNvPr id="128" name="" descr="{&quot;isTemplate&quot;:true,&quot;type&quot;:&quot;text&quot;}"/>
          <p:cNvSpPr txBox="1"/>
          <p:nvPr/>
        </p:nvSpPr>
        <p:spPr>
          <a:xfrm rot="0" flipH="0" flipV="0">
            <a:off x="10972800" y="61245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02 / 13</a:t>
            </a:r>
            <a:endParaRPr lang="en-US" sz="1050">
              <a:solidFill>
                <a:srgbClr val="718096"/>
              </a:solidFill>
              <a:latin typeface="Microsoft YaHei"/>
              <a:ea typeface="Microsoft YaHei"/>
            </a:endParaRPr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2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2B6CB0"/>
              </a:gs>
              <a:gs pos="100000">
                <a:srgbClr val="38B2AC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131" name="" descr="{&quot;isTemplate&quot;:true,&quot;type&quot;:&quot;text&quot;}"/>
          <p:cNvSpPr txBox="1"/>
          <p:nvPr/>
        </p:nvSpPr>
        <p:spPr>
          <a:xfrm rot="0" flipH="0" flipV="0">
            <a:off x="5124450" y="2609850"/>
            <a:ext cx="19526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spc="4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CHAPTER 01</a:t>
            </a:r>
            <a:endParaRPr/>
          </a:p>
        </p:txBody>
      </p:sp>
      <p:sp>
        <p:nvSpPr>
          <p:cNvPr id="132" name="" descr="{&quot;isTemplate&quot;:true,&quot;type&quot;:&quot;text&quot;}"/>
          <p:cNvSpPr txBox="1"/>
          <p:nvPr/>
        </p:nvSpPr>
        <p:spPr>
          <a:xfrm rot="0" flipH="0" flipV="0">
            <a:off x="4667250" y="3114675"/>
            <a:ext cx="285750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500" b="1">
                <a:solidFill>
                  <a:srgbClr val="FFFFFF"/>
                </a:solidFill>
                <a:latin typeface="Microsoft YaHei"/>
                <a:ea typeface="Microsoft YaHei"/>
              </a:rPr>
              <a:t>定位与架构</a:t>
            </a:r>
            <a:endParaRPr/>
          </a:p>
        </p:txBody>
      </p:sp>
      <p:sp>
        <p:nvSpPr>
          <p:cNvPr id="133" name="" descr="{&quot;isTemplate&quot;:true,&quot;type&quot;:&quot;text&quot;}"/>
          <p:cNvSpPr txBox="1"/>
          <p:nvPr/>
        </p:nvSpPr>
        <p:spPr>
          <a:xfrm rot="0" flipH="0" flipV="0">
            <a:off x="4667250" y="3990975"/>
            <a:ext cx="28670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FFFFFF">
                    <a:alpha val="90000"/>
                  </a:srgbClr>
                </a:solidFill>
                <a:latin typeface="Microsoft YaHei"/>
                <a:ea typeface="Microsoft YaHei"/>
              </a:rPr>
              <a:t>为什么做</a:t>
            </a:r>
            <a:r>
              <a:rPr lang="en-US" sz="1650">
                <a:solidFill>
                  <a:srgbClr val="FFFFFF">
                    <a:alpha val="90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1650">
                <a:solidFill>
                  <a:srgbClr val="FFFFFF">
                    <a:alpha val="90000"/>
                  </a:srgbClr>
                </a:solidFill>
                <a:latin typeface="Microsoft YaHei"/>
                <a:ea typeface="Microsoft YaHei"/>
              </a:rPr>
              <a:t>怎么做</a:t>
            </a:r>
            <a:r>
              <a:rPr lang="en-US" sz="1650">
                <a:solidFill>
                  <a:srgbClr val="FFFFFF">
                    <a:alpha val="90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1650">
                <a:solidFill>
                  <a:srgbClr val="FFFFFF">
                    <a:alpha val="90000"/>
                  </a:srgbClr>
                </a:solidFill>
                <a:latin typeface="Microsoft YaHei"/>
                <a:ea typeface="Microsoft YaHei"/>
              </a:rPr>
              <a:t>用什么技术</a:t>
            </a:r>
            <a:endParaRPr/>
          </a:p>
        </p:txBody>
      </p:sp>
      <p:sp>
        <p:nvSpPr>
          <p:cNvPr id="134" name=""/>
          <p:cNvSpPr/>
          <p:nvPr/>
        </p:nvSpPr>
        <p:spPr>
          <a:xfrm rot="0" flipH="0" flipV="0">
            <a:off x="8191500" y="762000"/>
            <a:ext cx="3048000" cy="3048000"/>
          </a:xfrm>
          <a:custGeom>
            <a:pathLst>
              <a:path w="320" h="320">
                <a:moveTo>
                  <a:pt x="160" y="0"/>
                </a:moveTo>
                <a:lnTo>
                  <a:pt x="160" y="0"/>
                </a:lnTo>
                <a:cubicBezTo>
                  <a:pt x="248" y="0"/>
                  <a:pt x="320" y="72"/>
                  <a:pt x="320" y="160"/>
                </a:cubicBezTo>
                <a:lnTo>
                  <a:pt x="320" y="160"/>
                </a:lnTo>
                <a:cubicBezTo>
                  <a:pt x="320" y="248"/>
                  <a:pt x="248" y="320"/>
                  <a:pt x="160" y="320"/>
                </a:cubicBezTo>
                <a:lnTo>
                  <a:pt x="160" y="320"/>
                </a:lnTo>
                <a:cubicBezTo>
                  <a:pt x="72" y="320"/>
                  <a:pt x="0" y="248"/>
                  <a:pt x="0" y="160"/>
                </a:cubicBezTo>
                <a:lnTo>
                  <a:pt x="0" y="160"/>
                </a:lnTo>
                <a:cubicBezTo>
                  <a:pt x="0" y="72"/>
                  <a:pt x="72" y="0"/>
                  <a:pt x="160" y="0"/>
                </a:cubicBezTo>
                <a:close/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35" name=""/>
          <p:cNvSpPr/>
          <p:nvPr/>
        </p:nvSpPr>
        <p:spPr>
          <a:xfrm rot="0" flipH="0" flipV="0">
            <a:off x="762000" y="3810000"/>
            <a:ext cx="2476500" cy="2476500"/>
          </a:xfrm>
          <a:custGeom>
            <a:pathLst>
              <a:path w="260" h="260">
                <a:moveTo>
                  <a:pt x="130" y="0"/>
                </a:moveTo>
                <a:lnTo>
                  <a:pt x="130" y="0"/>
                </a:lnTo>
                <a:cubicBezTo>
                  <a:pt x="202" y="0"/>
                  <a:pt x="260" y="58"/>
                  <a:pt x="260" y="130"/>
                </a:cubicBezTo>
                <a:lnTo>
                  <a:pt x="260" y="130"/>
                </a:lnTo>
                <a:cubicBezTo>
                  <a:pt x="260" y="202"/>
                  <a:pt x="202" y="260"/>
                  <a:pt x="130" y="260"/>
                </a:cubicBezTo>
                <a:lnTo>
                  <a:pt x="130" y="260"/>
                </a:lnTo>
                <a:cubicBezTo>
                  <a:pt x="58" y="260"/>
                  <a:pt x="0" y="202"/>
                  <a:pt x="0" y="130"/>
                </a:cubicBezTo>
                <a:lnTo>
                  <a:pt x="0" y="130"/>
                </a:lnTo>
                <a:cubicBezTo>
                  <a:pt x="0" y="58"/>
                  <a:pt x="58" y="0"/>
                  <a:pt x="130" y="0"/>
                </a:cubicBezTo>
                <a:close/>
              </a:path>
            </a:pathLst>
          </a:custGeom>
          <a:solidFill>
            <a:srgbClr val="FFFFFF">
              <a:alpha val="8000"/>
            </a:srgbClr>
          </a:solidFill>
          <a:ln/>
        </p:spPr>
        <p:txBody>
          <a:bodyPr/>
          <a:p>
            <a:pPr/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13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38" name="" descr="{&quot;isTemplate&quot;:true,&quot;type&quot;:&quot;text&quot;}"/>
          <p:cNvSpPr txBox="1"/>
          <p:nvPr/>
        </p:nvSpPr>
        <p:spPr>
          <a:xfrm rot="0" flipH="0" flipV="0">
            <a:off x="666750" y="381000"/>
            <a:ext cx="19431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A365D"/>
                </a:solidFill>
                <a:latin typeface="Microsoft YaHei"/>
                <a:ea typeface="Microsoft YaHei"/>
              </a:rPr>
              <a:t>四模块全链路</a:t>
            </a:r>
            <a:endParaRPr/>
          </a:p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2743200" y="381000"/>
            <a:ext cx="27432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718096"/>
                </a:solidFill>
                <a:latin typeface="Microsoft YaHei"/>
                <a:ea typeface="Microsoft YaHei"/>
              </a:rPr>
              <a:t>不止结构化，是理赔后的全流程增值</a:t>
            </a:r>
            <a:endParaRPr/>
          </a:p>
        </p:txBody>
      </p:sp>
      <p:sp>
        <p:nvSpPr>
          <p:cNvPr id="140" name=""/>
          <p:cNvSpPr/>
          <p:nvPr/>
        </p:nvSpPr>
        <p:spPr>
          <a:xfrm rot="0" flipH="0" flipV="0">
            <a:off x="666750" y="1076325"/>
            <a:ext cx="5543550" cy="5010150"/>
          </a:xfrm>
          <a:prstGeom prst="roundRect">
            <a:avLst>
              <a:gd name="adj" fmla="val 3042"/>
            </a:avLst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971550" y="2200275"/>
            <a:ext cx="49339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718096"/>
                </a:solidFill>
                <a:latin typeface="Microsoft YaHei"/>
                <a:ea typeface="Microsoft YaHei"/>
              </a:rPr>
              <a:t>数据流</a:t>
            </a:r>
            <a:endParaRPr/>
          </a:p>
        </p:txBody>
      </p:sp>
      <p:sp>
        <p:nvSpPr>
          <p:cNvPr id="142" name=""/>
          <p:cNvSpPr/>
          <p:nvPr/>
        </p:nvSpPr>
        <p:spPr>
          <a:xfrm rot="0" flipH="0" flipV="0">
            <a:off x="971550" y="2619375"/>
            <a:ext cx="419100" cy="419100"/>
          </a:xfrm>
          <a:custGeom>
            <a:pathLst>
              <a:path w="44" h="44">
                <a:moveTo>
                  <a:pt x="22" y="0"/>
                </a:moveTo>
                <a:lnTo>
                  <a:pt x="22" y="0"/>
                </a:lnTo>
                <a:cubicBezTo>
                  <a:pt x="34" y="0"/>
                  <a:pt x="44" y="10"/>
                  <a:pt x="44" y="22"/>
                </a:cubicBezTo>
                <a:lnTo>
                  <a:pt x="44" y="22"/>
                </a:lnTo>
                <a:cubicBezTo>
                  <a:pt x="44" y="34"/>
                  <a:pt x="34" y="44"/>
                  <a:pt x="22" y="44"/>
                </a:cubicBezTo>
                <a:lnTo>
                  <a:pt x="22" y="44"/>
                </a:lnTo>
                <a:cubicBezTo>
                  <a:pt x="10" y="44"/>
                  <a:pt x="0" y="34"/>
                  <a:pt x="0" y="22"/>
                </a:cubicBezTo>
                <a:lnTo>
                  <a:pt x="0" y="22"/>
                </a:lnTo>
                <a:cubicBezTo>
                  <a:pt x="0" y="10"/>
                  <a:pt x="10" y="0"/>
                  <a:pt x="22" y="0"/>
                </a:cubicBezTo>
                <a:close/>
              </a:path>
            </a:pathLst>
          </a:custGeom>
          <a:solidFill>
            <a:srgbClr val="2B6CB0"/>
          </a:solidFill>
          <a:ln/>
        </p:spPr>
        <p:txBody>
          <a:bodyPr/>
          <a:p>
            <a:pPr/>
            <a:endParaRPr/>
          </a:p>
        </p:txBody>
      </p:sp>
      <p:sp>
        <p:nvSpPr>
          <p:cNvPr id="143" name="" descr="{&quot;isTemplate&quot;:true,&quot;type&quot;:&quot;text&quot;}"/>
          <p:cNvSpPr txBox="1"/>
          <p:nvPr/>
        </p:nvSpPr>
        <p:spPr>
          <a:xfrm rot="0" flipH="0" flipV="0">
            <a:off x="1123950" y="2714625"/>
            <a:ext cx="114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a</a:t>
            </a:r>
            <a:endParaRPr/>
          </a:p>
        </p:txBody>
      </p:sp>
      <p:sp>
        <p:nvSpPr>
          <p:cNvPr id="144" name="" descr="{&quot;isTemplate&quot;:true,&quot;type&quot;:&quot;text&quot;}"/>
          <p:cNvSpPr txBox="1"/>
          <p:nvPr/>
        </p:nvSpPr>
        <p:spPr>
          <a:xfrm rot="0" flipH="0" flipV="0">
            <a:off x="1543050" y="2600325"/>
            <a:ext cx="41719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365D"/>
                </a:solidFill>
                <a:latin typeface="Microsoft YaHei"/>
                <a:ea typeface="Microsoft YaHei"/>
              </a:rPr>
              <a:t>病历结构化</a:t>
            </a:r>
            <a:endParaRPr/>
          </a:p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1543050" y="2857500"/>
            <a:ext cx="41719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718096"/>
                </a:solidFill>
                <a:latin typeface="Microsoft YaHei"/>
                <a:ea typeface="Microsoft YaHei"/>
              </a:rPr>
              <a:t>OCR + LLM + </a:t>
            </a:r>
            <a:r>
              <a:rPr lang="zh-CN" sz="1200">
                <a:solidFill>
                  <a:srgbClr val="718096"/>
                </a:solidFill>
                <a:latin typeface="Microsoft YaHei"/>
                <a:ea typeface="Microsoft YaHei"/>
              </a:rPr>
              <a:t>规则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5791200" y="2686050"/>
            <a:ext cx="1143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800">
                <a:solidFill>
                  <a:srgbClr val="CBD5E0"/>
                </a:solidFill>
                <a:latin typeface="Microsoft YaHei"/>
                <a:ea typeface="Microsoft YaHei"/>
              </a:rPr>
              <a:t>↓</a:t>
            </a:r>
            <a:endParaRPr/>
          </a:p>
        </p:txBody>
      </p:sp>
      <p:sp>
        <p:nvSpPr>
          <p:cNvPr id="147" name=""/>
          <p:cNvSpPr/>
          <p:nvPr/>
        </p:nvSpPr>
        <p:spPr>
          <a:xfrm rot="0" flipH="0" flipV="0">
            <a:off x="971550" y="3257550"/>
            <a:ext cx="419100" cy="419100"/>
          </a:xfrm>
          <a:custGeom>
            <a:pathLst>
              <a:path w="44" h="44">
                <a:moveTo>
                  <a:pt x="22" y="0"/>
                </a:moveTo>
                <a:lnTo>
                  <a:pt x="22" y="0"/>
                </a:lnTo>
                <a:cubicBezTo>
                  <a:pt x="34" y="0"/>
                  <a:pt x="44" y="10"/>
                  <a:pt x="44" y="22"/>
                </a:cubicBezTo>
                <a:lnTo>
                  <a:pt x="44" y="22"/>
                </a:lnTo>
                <a:cubicBezTo>
                  <a:pt x="44" y="34"/>
                  <a:pt x="34" y="44"/>
                  <a:pt x="22" y="44"/>
                </a:cubicBezTo>
                <a:lnTo>
                  <a:pt x="22" y="44"/>
                </a:lnTo>
                <a:cubicBezTo>
                  <a:pt x="10" y="44"/>
                  <a:pt x="0" y="34"/>
                  <a:pt x="0" y="22"/>
                </a:cubicBezTo>
                <a:lnTo>
                  <a:pt x="0" y="22"/>
                </a:lnTo>
                <a:cubicBezTo>
                  <a:pt x="0" y="10"/>
                  <a:pt x="10" y="0"/>
                  <a:pt x="22" y="0"/>
                </a:cubicBezTo>
                <a:close/>
              </a:path>
            </a:pathLst>
          </a:custGeom>
          <a:solidFill>
            <a:srgbClr val="2B6CB0"/>
          </a:solidFill>
          <a:ln/>
        </p:spPr>
        <p:txBody>
          <a:bodyPr/>
          <a:p>
            <a:pPr/>
            <a:endParaRPr/>
          </a:p>
        </p:txBody>
      </p:sp>
      <p:sp>
        <p:nvSpPr>
          <p:cNvPr id="148" name="" descr="{&quot;isTemplate&quot;:true,&quot;type&quot;:&quot;text&quot;}"/>
          <p:cNvSpPr txBox="1"/>
          <p:nvPr/>
        </p:nvSpPr>
        <p:spPr>
          <a:xfrm rot="0" flipH="0" flipV="0">
            <a:off x="1114425" y="3352800"/>
            <a:ext cx="1333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b</a:t>
            </a:r>
            <a:endParaRPr/>
          </a:p>
        </p:txBody>
      </p:sp>
      <p:sp>
        <p:nvSpPr>
          <p:cNvPr id="149" name="" descr="{&quot;isTemplate&quot;:true,&quot;type&quot;:&quot;text&quot;}"/>
          <p:cNvSpPr txBox="1"/>
          <p:nvPr/>
        </p:nvSpPr>
        <p:spPr>
          <a:xfrm rot="0" flipH="0" flipV="0">
            <a:off x="1543050" y="3238500"/>
            <a:ext cx="41719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365D"/>
                </a:solidFill>
                <a:latin typeface="Microsoft YaHei"/>
                <a:ea typeface="Microsoft YaHei"/>
              </a:rPr>
              <a:t>就医痛点</a:t>
            </a:r>
            <a:endParaRPr/>
          </a:p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1543050" y="3495675"/>
            <a:ext cx="41719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718096"/>
                </a:solidFill>
                <a:latin typeface="Microsoft YaHei"/>
                <a:ea typeface="Microsoft YaHei"/>
              </a:rPr>
              <a:t>规则</a:t>
            </a:r>
            <a:r>
              <a:rPr lang="en-US" sz="1200">
                <a:solidFill>
                  <a:srgbClr val="718096"/>
                </a:solidFill>
                <a:latin typeface="Microsoft YaHei"/>
                <a:ea typeface="Microsoft YaHei"/>
              </a:rPr>
              <a:t> + LLM </a:t>
            </a:r>
            <a:r>
              <a:rPr lang="zh-CN" sz="1200">
                <a:solidFill>
                  <a:srgbClr val="718096"/>
                </a:solidFill>
                <a:latin typeface="Microsoft YaHei"/>
                <a:ea typeface="Microsoft YaHei"/>
              </a:rPr>
              <a:t>语义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5791200" y="3324225"/>
            <a:ext cx="1143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800">
                <a:solidFill>
                  <a:srgbClr val="CBD5E0"/>
                </a:solidFill>
                <a:latin typeface="Microsoft YaHei"/>
                <a:ea typeface="Microsoft YaHei"/>
              </a:rPr>
              <a:t>↓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971550" y="3895725"/>
            <a:ext cx="419100" cy="419100"/>
          </a:xfrm>
          <a:custGeom>
            <a:pathLst>
              <a:path w="44" h="44">
                <a:moveTo>
                  <a:pt x="22" y="0"/>
                </a:moveTo>
                <a:lnTo>
                  <a:pt x="22" y="0"/>
                </a:lnTo>
                <a:cubicBezTo>
                  <a:pt x="34" y="0"/>
                  <a:pt x="44" y="10"/>
                  <a:pt x="44" y="22"/>
                </a:cubicBezTo>
                <a:lnTo>
                  <a:pt x="44" y="22"/>
                </a:lnTo>
                <a:cubicBezTo>
                  <a:pt x="44" y="34"/>
                  <a:pt x="34" y="44"/>
                  <a:pt x="22" y="44"/>
                </a:cubicBezTo>
                <a:lnTo>
                  <a:pt x="22" y="44"/>
                </a:lnTo>
                <a:cubicBezTo>
                  <a:pt x="10" y="44"/>
                  <a:pt x="0" y="34"/>
                  <a:pt x="0" y="22"/>
                </a:cubicBezTo>
                <a:lnTo>
                  <a:pt x="0" y="22"/>
                </a:lnTo>
                <a:cubicBezTo>
                  <a:pt x="0" y="10"/>
                  <a:pt x="10" y="0"/>
                  <a:pt x="22" y="0"/>
                </a:cubicBezTo>
                <a:close/>
              </a:path>
            </a:pathLst>
          </a:custGeom>
          <a:solidFill>
            <a:srgbClr val="38B2AC"/>
          </a:solidFill>
          <a:ln/>
        </p:spPr>
        <p:txBody>
          <a:bodyPr/>
          <a:p>
            <a:pPr/>
            <a:endParaRPr/>
          </a:p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1133475" y="3990975"/>
            <a:ext cx="1047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c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1543050" y="3876675"/>
            <a:ext cx="41719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365D"/>
                </a:solidFill>
                <a:latin typeface="Microsoft YaHei"/>
                <a:ea typeface="Microsoft YaHei"/>
              </a:rPr>
              <a:t>温度指引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1543050" y="4133850"/>
            <a:ext cx="41719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718096"/>
                </a:solidFill>
                <a:latin typeface="Microsoft YaHei"/>
                <a:ea typeface="Microsoft YaHei"/>
              </a:rPr>
              <a:t>个性化信笺</a:t>
            </a:r>
            <a:endParaRPr/>
          </a:p>
        </p:txBody>
      </p:sp>
      <p:sp>
        <p:nvSpPr>
          <p:cNvPr id="156" name="" descr="{&quot;isTemplate&quot;:true,&quot;type&quot;:&quot;text&quot;}"/>
          <p:cNvSpPr txBox="1"/>
          <p:nvPr/>
        </p:nvSpPr>
        <p:spPr>
          <a:xfrm rot="0" flipH="0" flipV="0">
            <a:off x="5791200" y="3962400"/>
            <a:ext cx="114300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800">
                <a:solidFill>
                  <a:srgbClr val="CBD5E0"/>
                </a:solidFill>
                <a:latin typeface="Microsoft YaHei"/>
                <a:ea typeface="Microsoft YaHei"/>
              </a:rPr>
              <a:t>↓</a:t>
            </a:r>
            <a:endParaRPr/>
          </a:p>
        </p:txBody>
      </p:sp>
      <p:sp>
        <p:nvSpPr>
          <p:cNvPr id="157" name=""/>
          <p:cNvSpPr/>
          <p:nvPr/>
        </p:nvSpPr>
        <p:spPr>
          <a:xfrm rot="0" flipH="0" flipV="0">
            <a:off x="971550" y="4533900"/>
            <a:ext cx="419100" cy="419100"/>
          </a:xfrm>
          <a:custGeom>
            <a:pathLst>
              <a:path w="44" h="44">
                <a:moveTo>
                  <a:pt x="22" y="0"/>
                </a:moveTo>
                <a:lnTo>
                  <a:pt x="22" y="0"/>
                </a:lnTo>
                <a:cubicBezTo>
                  <a:pt x="34" y="0"/>
                  <a:pt x="44" y="10"/>
                  <a:pt x="44" y="22"/>
                </a:cubicBezTo>
                <a:lnTo>
                  <a:pt x="44" y="22"/>
                </a:lnTo>
                <a:cubicBezTo>
                  <a:pt x="44" y="34"/>
                  <a:pt x="34" y="44"/>
                  <a:pt x="22" y="44"/>
                </a:cubicBezTo>
                <a:lnTo>
                  <a:pt x="22" y="44"/>
                </a:lnTo>
                <a:cubicBezTo>
                  <a:pt x="10" y="44"/>
                  <a:pt x="0" y="34"/>
                  <a:pt x="0" y="22"/>
                </a:cubicBezTo>
                <a:lnTo>
                  <a:pt x="0" y="22"/>
                </a:lnTo>
                <a:cubicBezTo>
                  <a:pt x="0" y="10"/>
                  <a:pt x="10" y="0"/>
                  <a:pt x="22" y="0"/>
                </a:cubicBezTo>
                <a:close/>
              </a:path>
            </a:pathLst>
          </a:custGeom>
          <a:solidFill>
            <a:srgbClr val="38B2AC"/>
          </a:solidFill>
          <a:ln/>
        </p:spPr>
        <p:txBody>
          <a:bodyPr/>
          <a:p>
            <a:pPr/>
            <a:endParaRPr/>
          </a:p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1114425" y="4629150"/>
            <a:ext cx="1333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d</a:t>
            </a:r>
            <a:endParaRPr/>
          </a:p>
        </p:txBody>
      </p:sp>
      <p:sp>
        <p:nvSpPr>
          <p:cNvPr id="159" name="" descr="{&quot;isTemplate&quot;:true,&quot;type&quot;:&quot;text&quot;}"/>
          <p:cNvSpPr txBox="1"/>
          <p:nvPr/>
        </p:nvSpPr>
        <p:spPr>
          <a:xfrm rot="0" flipH="0" flipV="0">
            <a:off x="1543050" y="4514850"/>
            <a:ext cx="43624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365D"/>
                </a:solidFill>
                <a:latin typeface="Microsoft YaHei"/>
                <a:ea typeface="Microsoft YaHei"/>
              </a:rPr>
              <a:t>品质画像</a:t>
            </a:r>
            <a:endParaRPr/>
          </a:p>
        </p:txBody>
      </p:sp>
      <p:sp>
        <p:nvSpPr>
          <p:cNvPr id="160" name="" descr="{&quot;isTemplate&quot;:true,&quot;type&quot;:&quot;text&quot;}"/>
          <p:cNvSpPr txBox="1"/>
          <p:nvPr/>
        </p:nvSpPr>
        <p:spPr>
          <a:xfrm rot="0" flipH="0" flipV="0">
            <a:off x="1543050" y="4772025"/>
            <a:ext cx="43624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718096"/>
                </a:solidFill>
                <a:latin typeface="Microsoft YaHei"/>
                <a:ea typeface="Microsoft YaHei"/>
              </a:rPr>
              <a:t>聚合</a:t>
            </a:r>
            <a:r>
              <a:rPr lang="en-US" sz="1200">
                <a:solidFill>
                  <a:srgbClr val="718096"/>
                </a:solidFill>
                <a:latin typeface="Microsoft YaHei"/>
                <a:ea typeface="Microsoft YaHei"/>
              </a:rPr>
              <a:t> + </a:t>
            </a:r>
            <a:r>
              <a:rPr lang="zh-CN" sz="1200">
                <a:solidFill>
                  <a:srgbClr val="718096"/>
                </a:solidFill>
                <a:latin typeface="Microsoft YaHei"/>
                <a:ea typeface="Microsoft YaHei"/>
              </a:rPr>
              <a:t>推荐</a:t>
            </a:r>
            <a:endParaRPr/>
          </a:p>
        </p:txBody>
      </p:sp>
      <p:sp>
        <p:nvSpPr>
          <p:cNvPr id="161" name=""/>
          <p:cNvSpPr/>
          <p:nvPr/>
        </p:nvSpPr>
        <p:spPr>
          <a:xfrm rot="0" flipH="0" flipV="0">
            <a:off x="6477000" y="1876425"/>
            <a:ext cx="5048250" cy="1771650"/>
          </a:xfrm>
          <a:prstGeom prst="roundRect">
            <a:avLst>
              <a:gd name="adj" fmla="val 6452"/>
            </a:avLst>
          </a:prstGeom>
          <a:solidFill>
            <a:srgbClr val="EBF8FF"/>
          </a:solidFill>
          <a:ln w="12700">
            <a:solidFill>
              <a:srgbClr val="BEE3F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6705600" y="2105025"/>
            <a:ext cx="45910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B6CB0"/>
                </a:solidFill>
                <a:latin typeface="Microsoft YaHei"/>
                <a:ea typeface="Microsoft YaHei"/>
              </a:rPr>
              <a:t>核赔之外的增值</a:t>
            </a:r>
            <a:endParaRPr/>
          </a:p>
        </p:txBody>
      </p:sp>
      <p:sp>
        <p:nvSpPr>
          <p:cNvPr id="163" name="" descr="{&quot;isTemplate&quot;:true,&quot;type&quot;:&quot;text&quot;}"/>
          <p:cNvSpPr txBox="1"/>
          <p:nvPr/>
        </p:nvSpPr>
        <p:spPr>
          <a:xfrm rot="0" flipH="0" flipV="0">
            <a:off x="6705600" y="2428875"/>
            <a:ext cx="4591050" cy="990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2C5282"/>
                </a:solidFill>
                <a:latin typeface="Microsoft YaHei"/>
                <a:ea typeface="Microsoft YaHei"/>
              </a:rPr>
              <a:t>传统理赔里，病历只用于核赔，患者拿到的是</a:t>
            </a:r>
            <a:r>
              <a:rPr lang="en-US" sz="1350">
                <a:solidFill>
                  <a:srgbClr val="2C5282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2C5282"/>
                </a:solidFill>
                <a:latin typeface="Microsoft YaHei"/>
                <a:ea typeface="Microsoft YaHei"/>
              </a:rPr>
              <a:t>已结案</a:t>
            </a:r>
            <a:r>
              <a:rPr lang="en-US" sz="1350">
                <a:solidFill>
                  <a:srgbClr val="2C5282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2C5282"/>
                </a:solidFill>
                <a:latin typeface="Microsoft YaHei"/>
                <a:ea typeface="Microsoft YaHei"/>
              </a:rPr>
              <a:t>。本引擎在理赔完成后，把病历转成一份</a:t>
            </a:r>
            <a:r>
              <a:rPr lang="en-US" sz="1350">
                <a:solidFill>
                  <a:srgbClr val="2C5282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2C5282"/>
                </a:solidFill>
                <a:latin typeface="Microsoft YaHei"/>
                <a:ea typeface="Microsoft YaHei"/>
              </a:rPr>
              <a:t>人话版</a:t>
            </a:r>
            <a:r>
              <a:rPr lang="en-US" sz="1350">
                <a:solidFill>
                  <a:srgbClr val="2C5282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2C5282"/>
                </a:solidFill>
                <a:latin typeface="Microsoft YaHei"/>
                <a:ea typeface="Microsoft YaHei"/>
              </a:rPr>
              <a:t>就医复盘与后续关怀。</a:t>
            </a:r>
            <a:endParaRPr/>
          </a:p>
        </p:txBody>
      </p:sp>
      <p:sp>
        <p:nvSpPr>
          <p:cNvPr id="164" name=""/>
          <p:cNvSpPr/>
          <p:nvPr/>
        </p:nvSpPr>
        <p:spPr>
          <a:xfrm rot="0" flipH="0" flipV="0">
            <a:off x="6477000" y="3838575"/>
            <a:ext cx="5048250" cy="1447800"/>
          </a:xfrm>
          <a:prstGeom prst="roundRect">
            <a:avLst>
              <a:gd name="adj" fmla="val 7895"/>
            </a:avLst>
          </a:prstGeom>
          <a:solidFill>
            <a:srgbClr val="E6FFFA"/>
          </a:solidFill>
          <a:ln w="12700">
            <a:solidFill>
              <a:srgbClr val="B2F5EA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165" name="" descr="{&quot;isTemplate&quot;:true,&quot;type&quot;:&quot;text&quot;}"/>
          <p:cNvSpPr txBox="1"/>
          <p:nvPr/>
        </p:nvSpPr>
        <p:spPr>
          <a:xfrm rot="0" flipH="0" flipV="0">
            <a:off x="6705600" y="4067175"/>
            <a:ext cx="45910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2C7A7B"/>
                </a:solidFill>
                <a:latin typeface="Microsoft YaHei"/>
                <a:ea typeface="Microsoft YaHei"/>
              </a:rPr>
              <a:t>四模块职责清晰</a:t>
            </a:r>
            <a:endParaRPr/>
          </a:p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6705600" y="4391025"/>
            <a:ext cx="459105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350">
                <a:solidFill>
                  <a:srgbClr val="234E52"/>
                </a:solidFill>
                <a:latin typeface="Microsoft YaHei"/>
                <a:ea typeface="Microsoft YaHei"/>
              </a:rPr>
              <a:t>a </a:t>
            </a:r>
            <a:r>
              <a:rPr lang="zh-CN" sz="1350">
                <a:solidFill>
                  <a:srgbClr val="234E52"/>
                </a:solidFill>
                <a:latin typeface="Microsoft YaHei"/>
                <a:ea typeface="Microsoft YaHei"/>
              </a:rPr>
              <a:t>结构化</a:t>
            </a:r>
            <a:r>
              <a:rPr lang="en-US" sz="1350">
                <a:solidFill>
                  <a:srgbClr val="234E52"/>
                </a:solidFill>
                <a:latin typeface="Microsoft YaHei"/>
                <a:ea typeface="Microsoft YaHei"/>
              </a:rPr>
              <a:t> → b </a:t>
            </a:r>
            <a:r>
              <a:rPr lang="zh-CN" sz="1350">
                <a:solidFill>
                  <a:srgbClr val="234E52"/>
                </a:solidFill>
                <a:latin typeface="Microsoft YaHei"/>
                <a:ea typeface="Microsoft YaHei"/>
              </a:rPr>
              <a:t>洞察痛点</a:t>
            </a:r>
            <a:r>
              <a:rPr lang="en-US" sz="1350">
                <a:solidFill>
                  <a:srgbClr val="234E52"/>
                </a:solidFill>
                <a:latin typeface="Microsoft YaHei"/>
                <a:ea typeface="Microsoft YaHei"/>
              </a:rPr>
              <a:t> → c </a:t>
            </a:r>
            <a:r>
              <a:rPr lang="zh-CN" sz="1350">
                <a:solidFill>
                  <a:srgbClr val="234E52"/>
                </a:solidFill>
                <a:latin typeface="Microsoft YaHei"/>
                <a:ea typeface="Microsoft YaHei"/>
              </a:rPr>
              <a:t>生成指引</a:t>
            </a:r>
            <a:r>
              <a:rPr lang="en-US" sz="1350">
                <a:solidFill>
                  <a:srgbClr val="234E52"/>
                </a:solidFill>
                <a:latin typeface="Microsoft YaHei"/>
                <a:ea typeface="Microsoft YaHei"/>
              </a:rPr>
              <a:t> → d </a:t>
            </a:r>
            <a:r>
              <a:rPr lang="zh-CN" sz="1350">
                <a:solidFill>
                  <a:srgbClr val="234E52"/>
                </a:solidFill>
                <a:latin typeface="Microsoft YaHei"/>
                <a:ea typeface="Microsoft YaHei"/>
              </a:rPr>
              <a:t>沉淀画像，层层递进，每个模块的输出都带证据溯源。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666750" y="6315075"/>
            <a:ext cx="1466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医护洞察与温度指引引擎</a:t>
            </a:r>
            <a:endParaRPr/>
          </a:p>
        </p:txBody>
      </p:sp>
      <p:sp>
        <p:nvSpPr>
          <p:cNvPr id="168" name="" descr="{&quot;isTemplate&quot;:true,&quot;type&quot;:&quot;text&quot;}"/>
          <p:cNvSpPr txBox="1"/>
          <p:nvPr/>
        </p:nvSpPr>
        <p:spPr>
          <a:xfrm rot="0" flipH="0" flipV="0">
            <a:off x="11068050" y="63150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04 / 13</a:t>
            </a:r>
            <a:endParaRPr lang="en-US" sz="1050">
              <a:solidFill>
                <a:srgbClr val="718096"/>
              </a:solidFill>
              <a:latin typeface="Microsoft YaHei"/>
              <a:ea typeface="Microsoft YaHei"/>
            </a:endParaRPr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>
  <p:cSld>
    <p:spTree>
      <p:nvGrpSpPr>
        <p:cNvPr id="16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666750" y="381000"/>
            <a:ext cx="2590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A365D"/>
                </a:solidFill>
                <a:latin typeface="Microsoft YaHei"/>
                <a:ea typeface="Microsoft YaHei"/>
              </a:rPr>
              <a:t>三层抽取技术路线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3390900" y="381000"/>
            <a:ext cx="29718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718096"/>
                </a:solidFill>
                <a:latin typeface="Microsoft YaHei"/>
                <a:ea typeface="Microsoft YaHei"/>
              </a:rPr>
              <a:t>半结构化字段规则优先，语义字段</a:t>
            </a:r>
            <a:r>
              <a:rPr lang="en-US" sz="1350">
                <a:solidFill>
                  <a:srgbClr val="718096"/>
                </a:solidFill>
                <a:latin typeface="Microsoft YaHei"/>
                <a:ea typeface="Microsoft YaHei"/>
              </a:rPr>
              <a:t> LLM</a:t>
            </a:r>
            <a:endParaRPr/>
          </a:p>
        </p:txBody>
      </p:sp>
      <p:sp>
        <p:nvSpPr>
          <p:cNvPr id="173" name=""/>
          <p:cNvSpPr/>
          <p:nvPr/>
        </p:nvSpPr>
        <p:spPr>
          <a:xfrm rot="0" flipH="0" flipV="0">
            <a:off x="666750" y="2019300"/>
            <a:ext cx="76200" cy="76200"/>
          </a:xfrm>
          <a:custGeom>
            <a:pathLst>
              <a:path w="8" h="8">
                <a:moveTo>
                  <a:pt x="4" y="0"/>
                </a:moveTo>
                <a:lnTo>
                  <a:pt x="4" y="0"/>
                </a:lnTo>
                <a:cubicBezTo>
                  <a:pt x="6" y="0"/>
                  <a:pt x="8" y="2"/>
                  <a:pt x="8" y="4"/>
                </a:cubicBezTo>
                <a:lnTo>
                  <a:pt x="8" y="4"/>
                </a:lnTo>
                <a:cubicBezTo>
                  <a:pt x="8" y="6"/>
                  <a:pt x="6" y="8"/>
                  <a:pt x="4" y="8"/>
                </a:cubicBezTo>
                <a:lnTo>
                  <a:pt x="4" y="8"/>
                </a:lnTo>
                <a:cubicBezTo>
                  <a:pt x="2" y="8"/>
                  <a:pt x="0" y="6"/>
                  <a:pt x="0" y="4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2B6CB0"/>
          </a:solidFill>
          <a:ln/>
        </p:spPr>
        <p:txBody>
          <a:bodyPr/>
          <a:p>
            <a:pPr/>
            <a:endParaRPr/>
          </a:p>
        </p:txBody>
      </p:sp>
      <p:sp>
        <p:nvSpPr>
          <p:cNvPr id="174" name="" descr="{&quot;isTemplate&quot;:true,&quot;type&quot;:&quot;text&quot;}"/>
          <p:cNvSpPr txBox="1"/>
          <p:nvPr/>
        </p:nvSpPr>
        <p:spPr>
          <a:xfrm rot="0" flipH="0" flipV="0">
            <a:off x="895350" y="1924050"/>
            <a:ext cx="4533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365D"/>
                </a:solidFill>
                <a:latin typeface="Microsoft YaHei"/>
                <a:ea typeface="Microsoft YaHei"/>
              </a:rPr>
              <a:t>OCR </a:t>
            </a:r>
            <a:r>
              <a:rPr lang="zh-CN" sz="1650" b="1">
                <a:solidFill>
                  <a:srgbClr val="1A365D"/>
                </a:solidFill>
                <a:latin typeface="Microsoft YaHei"/>
                <a:ea typeface="Microsoft YaHei"/>
              </a:rPr>
              <a:t>层</a:t>
            </a:r>
            <a:endParaRPr/>
          </a:p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895350" y="2238375"/>
            <a:ext cx="45339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RapidOCR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本地推理，病历图片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→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文本，兼容票据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表格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/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印章版式</a:t>
            </a:r>
            <a:endParaRPr/>
          </a:p>
        </p:txBody>
      </p:sp>
      <p:sp>
        <p:nvSpPr>
          <p:cNvPr id="176" name=""/>
          <p:cNvSpPr/>
          <p:nvPr/>
        </p:nvSpPr>
        <p:spPr>
          <a:xfrm rot="0" flipH="0" flipV="0">
            <a:off x="666750" y="3190875"/>
            <a:ext cx="76200" cy="76200"/>
          </a:xfrm>
          <a:custGeom>
            <a:pathLst>
              <a:path w="8" h="8">
                <a:moveTo>
                  <a:pt x="4" y="0"/>
                </a:moveTo>
                <a:lnTo>
                  <a:pt x="4" y="0"/>
                </a:lnTo>
                <a:cubicBezTo>
                  <a:pt x="6" y="0"/>
                  <a:pt x="8" y="2"/>
                  <a:pt x="8" y="4"/>
                </a:cubicBezTo>
                <a:lnTo>
                  <a:pt x="8" y="4"/>
                </a:lnTo>
                <a:cubicBezTo>
                  <a:pt x="8" y="6"/>
                  <a:pt x="6" y="8"/>
                  <a:pt x="4" y="8"/>
                </a:cubicBezTo>
                <a:lnTo>
                  <a:pt x="4" y="8"/>
                </a:lnTo>
                <a:cubicBezTo>
                  <a:pt x="2" y="8"/>
                  <a:pt x="0" y="6"/>
                  <a:pt x="0" y="4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2B6CB0"/>
          </a:solidFill>
          <a:ln/>
        </p:spPr>
        <p:txBody>
          <a:bodyPr/>
          <a:p>
            <a:pPr/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895350" y="3095625"/>
            <a:ext cx="4533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650" b="1">
                <a:solidFill>
                  <a:srgbClr val="1A365D"/>
                </a:solidFill>
                <a:latin typeface="Microsoft YaHei"/>
                <a:ea typeface="Microsoft YaHei"/>
              </a:rPr>
              <a:t>LLM </a:t>
            </a:r>
            <a:r>
              <a:rPr lang="zh-CN" sz="1650" b="1">
                <a:solidFill>
                  <a:srgbClr val="1A365D"/>
                </a:solidFill>
                <a:latin typeface="Microsoft YaHei"/>
                <a:ea typeface="Microsoft YaHei"/>
              </a:rPr>
              <a:t>结构化层</a:t>
            </a:r>
            <a:endParaRPr/>
          </a:p>
        </p:txBody>
      </p:sp>
      <p:sp>
        <p:nvSpPr>
          <p:cNvPr id="178" name="" descr="{&quot;isTemplate&quot;:true,&quot;type&quot;:&quot;text&quot;}"/>
          <p:cNvSpPr txBox="1"/>
          <p:nvPr/>
        </p:nvSpPr>
        <p:spPr>
          <a:xfrm rot="0" flipH="0" flipV="0">
            <a:off x="895350" y="3409950"/>
            <a:ext cx="45339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DeepSeek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抽取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schema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约束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JSON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，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temperature=0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确定性抽取</a:t>
            </a:r>
            <a:endParaRPr/>
          </a:p>
        </p:txBody>
      </p:sp>
      <p:sp>
        <p:nvSpPr>
          <p:cNvPr id="179" name=""/>
          <p:cNvSpPr/>
          <p:nvPr/>
        </p:nvSpPr>
        <p:spPr>
          <a:xfrm rot="0" flipH="0" flipV="0">
            <a:off x="666750" y="4362450"/>
            <a:ext cx="76200" cy="76200"/>
          </a:xfrm>
          <a:custGeom>
            <a:pathLst>
              <a:path w="8" h="8">
                <a:moveTo>
                  <a:pt x="4" y="0"/>
                </a:moveTo>
                <a:lnTo>
                  <a:pt x="4" y="0"/>
                </a:lnTo>
                <a:cubicBezTo>
                  <a:pt x="6" y="0"/>
                  <a:pt x="8" y="2"/>
                  <a:pt x="8" y="4"/>
                </a:cubicBezTo>
                <a:lnTo>
                  <a:pt x="8" y="4"/>
                </a:lnTo>
                <a:cubicBezTo>
                  <a:pt x="8" y="6"/>
                  <a:pt x="6" y="8"/>
                  <a:pt x="4" y="8"/>
                </a:cubicBezTo>
                <a:lnTo>
                  <a:pt x="4" y="8"/>
                </a:lnTo>
                <a:cubicBezTo>
                  <a:pt x="2" y="8"/>
                  <a:pt x="0" y="6"/>
                  <a:pt x="0" y="4"/>
                </a:cubicBezTo>
                <a:lnTo>
                  <a:pt x="0" y="4"/>
                </a:lnTo>
                <a:cubicBezTo>
                  <a:pt x="0" y="2"/>
                  <a:pt x="2" y="0"/>
                  <a:pt x="4" y="0"/>
                </a:cubicBezTo>
                <a:close/>
              </a:path>
            </a:pathLst>
          </a:custGeom>
          <a:solidFill>
            <a:srgbClr val="38B2AC"/>
          </a:solidFill>
          <a:ln/>
        </p:spPr>
        <p:txBody>
          <a:bodyPr/>
          <a:p>
            <a:pPr/>
            <a:endParaRPr/>
          </a:p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895350" y="4267200"/>
            <a:ext cx="4533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365D"/>
                </a:solidFill>
                <a:latin typeface="Microsoft YaHei"/>
                <a:ea typeface="Microsoft YaHei"/>
              </a:rPr>
              <a:t>规则兜底层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895350" y="4581525"/>
            <a:ext cx="45339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费用求和、日期、医保分类等确定性字段，规则优先、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LLM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补缺</a:t>
            </a:r>
            <a:endParaRPr/>
          </a:p>
        </p:txBody>
      </p:sp>
      <p:sp>
        <p:nvSpPr>
          <p:cNvPr id="182" name=""/>
          <p:cNvSpPr/>
          <p:nvPr/>
        </p:nvSpPr>
        <p:spPr>
          <a:xfrm rot="0" flipH="0" flipV="0">
            <a:off x="5695950" y="1076325"/>
            <a:ext cx="5829300" cy="5010150"/>
          </a:xfrm>
          <a:prstGeom prst="roundRect">
            <a:avLst>
              <a:gd name="adj" fmla="val 3042"/>
            </a:avLst>
          </a:prstGeom>
          <a:gradFill>
            <a:gsLst>
              <a:gs pos="0">
                <a:srgbClr val="1A365D"/>
              </a:gs>
              <a:gs pos="100000">
                <a:srgbClr val="2B6CB0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183" name="" descr="{&quot;isTemplate&quot;:true,&quot;type&quot;:&quot;text&quot;}"/>
          <p:cNvSpPr txBox="1"/>
          <p:nvPr/>
        </p:nvSpPr>
        <p:spPr>
          <a:xfrm rot="0" flipH="0" flipV="0">
            <a:off x="6038850" y="2590800"/>
            <a:ext cx="51435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7FD1CD"/>
                </a:solidFill>
                <a:latin typeface="Microsoft YaHei"/>
                <a:ea typeface="Microsoft YaHei"/>
              </a:rPr>
              <a:t>实测驱动的架构决策</a:t>
            </a:r>
            <a:endParaRPr/>
          </a:p>
        </p:txBody>
      </p:sp>
      <p:sp>
        <p:nvSpPr>
          <p:cNvPr id="184" name="" descr="{&quot;isTemplate&quot;:true,&quot;type&quot;:&quot;text&quot;}"/>
          <p:cNvSpPr txBox="1"/>
          <p:nvPr/>
        </p:nvSpPr>
        <p:spPr>
          <a:xfrm rot="0" flipH="0" flipV="0">
            <a:off x="6038850" y="3038475"/>
            <a:ext cx="5143500" cy="7810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费用清单是逐行明细、无总额行，</a:t>
            </a:r>
            <a:r>
              <a:rPr lang="en-US" sz="1500">
                <a:solidFill>
                  <a:srgbClr val="FFFFFF"/>
                </a:solidFill>
                <a:latin typeface="Microsoft YaHei"/>
                <a:ea typeface="Microsoft YaHei"/>
              </a:rPr>
              <a:t>LLM </a:t>
            </a:r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无法对</a:t>
            </a:r>
            <a:r>
              <a:rPr lang="en-US" sz="1500">
                <a:solidFill>
                  <a:srgbClr val="FFFFFF"/>
                </a:solidFill>
                <a:latin typeface="Microsoft YaHei"/>
                <a:ea typeface="Microsoft YaHei"/>
              </a:rPr>
              <a:t> 262 </a:t>
            </a:r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行明细求和——这是从</a:t>
            </a:r>
            <a:r>
              <a:rPr lang="en-US" sz="1500">
                <a:solidFill>
                  <a:srgbClr val="FFFFFF"/>
                </a:solidFill>
                <a:latin typeface="Microsoft YaHei"/>
                <a:ea typeface="Microsoft YaHei"/>
              </a:rPr>
              <a:t> 70 </a:t>
            </a:r>
            <a:r>
              <a:rPr lang="zh-CN" sz="1500">
                <a:solidFill>
                  <a:srgbClr val="FFFFFF"/>
                </a:solidFill>
                <a:latin typeface="Microsoft YaHei"/>
                <a:ea typeface="Microsoft YaHei"/>
              </a:rPr>
              <a:t>案实测中得出的结论。</a:t>
            </a:r>
            <a:endParaRPr/>
          </a:p>
        </p:txBody>
      </p:sp>
      <p:sp>
        <p:nvSpPr>
          <p:cNvPr id="185" name=""/>
          <p:cNvSpPr/>
          <p:nvPr/>
        </p:nvSpPr>
        <p:spPr>
          <a:xfrm rot="0" flipH="0" flipV="0">
            <a:off x="6038850" y="4048125"/>
            <a:ext cx="5143500" cy="533400"/>
          </a:xfrm>
          <a:prstGeom prst="roundRect">
            <a:avLst>
              <a:gd name="adj" fmla="val 17857"/>
            </a:avLst>
          </a:prstGeom>
          <a:solidFill>
            <a:srgbClr val="FFFFFF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6229350" y="4200525"/>
            <a:ext cx="47625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→ </a:t>
            </a:r>
            <a:r>
              <a:rPr lang="zh-CN" sz="1500" b="1">
                <a:solidFill>
                  <a:srgbClr val="FFFFFF"/>
                </a:solidFill>
                <a:latin typeface="Microsoft YaHei"/>
                <a:ea typeface="Microsoft YaHei"/>
              </a:rPr>
              <a:t>半结构化字段用规则，语义字段用</a:t>
            </a: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 LLM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666750" y="6315075"/>
            <a:ext cx="1466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医护洞察与温度指引引擎</a:t>
            </a:r>
            <a:endParaRPr/>
          </a:p>
        </p:txBody>
      </p:sp>
      <p:sp>
        <p:nvSpPr>
          <p:cNvPr id="188" name="" descr="{&quot;isTemplate&quot;:true,&quot;type&quot;:&quot;text&quot;}"/>
          <p:cNvSpPr txBox="1"/>
          <p:nvPr/>
        </p:nvSpPr>
        <p:spPr>
          <a:xfrm rot="0" flipH="0" flipV="0">
            <a:off x="11068050" y="63150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05 / 13</a:t>
            </a:r>
            <a:endParaRPr lang="en-US" sz="1050">
              <a:solidFill>
                <a:srgbClr val="718096"/>
              </a:solidFill>
              <a:latin typeface="Microsoft YaHei"/>
              <a:ea typeface="Microsoft YaHei"/>
            </a:endParaRPr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18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2B6CB0"/>
              </a:gs>
              <a:gs pos="100000">
                <a:srgbClr val="38B2AC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5124450" y="2609850"/>
            <a:ext cx="19526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spc="4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CHAPTER 02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4953000" y="3114675"/>
            <a:ext cx="228600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500" b="1">
                <a:solidFill>
                  <a:srgbClr val="FFFFFF"/>
                </a:solidFill>
                <a:latin typeface="Microsoft YaHei"/>
                <a:ea typeface="Microsoft YaHei"/>
              </a:rPr>
              <a:t>效果验证</a:t>
            </a:r>
            <a:endParaRPr/>
          </a:p>
        </p:txBody>
      </p:sp>
      <p:sp>
        <p:nvSpPr>
          <p:cNvPr id="193" name="" descr="{&quot;isTemplate&quot;:true,&quot;type&quot;:&quot;text&quot;}"/>
          <p:cNvSpPr txBox="1"/>
          <p:nvPr/>
        </p:nvSpPr>
        <p:spPr>
          <a:xfrm rot="0" flipH="0" flipV="0">
            <a:off x="4772025" y="3990975"/>
            <a:ext cx="26479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FFFFFF">
                    <a:alpha val="90000"/>
                  </a:srgbClr>
                </a:solidFill>
                <a:latin typeface="Microsoft YaHei"/>
                <a:ea typeface="Microsoft YaHei"/>
              </a:rPr>
              <a:t>官方</a:t>
            </a:r>
            <a:r>
              <a:rPr lang="en-US" sz="1650">
                <a:solidFill>
                  <a:srgbClr val="FFFFFF">
                    <a:alpha val="90000"/>
                  </a:srgbClr>
                </a:solidFill>
                <a:latin typeface="Microsoft YaHei"/>
                <a:ea typeface="Microsoft YaHei"/>
              </a:rPr>
              <a:t> 70 </a:t>
            </a:r>
            <a:r>
              <a:rPr lang="zh-CN" sz="1650">
                <a:solidFill>
                  <a:srgbClr val="FFFFFF">
                    <a:alpha val="90000"/>
                  </a:srgbClr>
                </a:solidFill>
                <a:latin typeface="Microsoft YaHei"/>
                <a:ea typeface="Microsoft YaHei"/>
              </a:rPr>
              <a:t>案实测</a:t>
            </a:r>
            <a:r>
              <a:rPr lang="en-US" sz="1650">
                <a:solidFill>
                  <a:srgbClr val="FFFFFF">
                    <a:alpha val="90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1650">
                <a:solidFill>
                  <a:srgbClr val="FFFFFF">
                    <a:alpha val="90000"/>
                  </a:srgbClr>
                </a:solidFill>
                <a:latin typeface="Microsoft YaHei"/>
                <a:ea typeface="Microsoft YaHei"/>
              </a:rPr>
              <a:t>硬指标说话</a:t>
            </a:r>
            <a:endParaRPr/>
          </a:p>
        </p:txBody>
      </p:sp>
      <p:sp>
        <p:nvSpPr>
          <p:cNvPr id="194" name=""/>
          <p:cNvSpPr/>
          <p:nvPr/>
        </p:nvSpPr>
        <p:spPr>
          <a:xfrm rot="0" flipH="0" flipV="0">
            <a:off x="8191500" y="762000"/>
            <a:ext cx="3048000" cy="3048000"/>
          </a:xfrm>
          <a:custGeom>
            <a:pathLst>
              <a:path w="320" h="320">
                <a:moveTo>
                  <a:pt x="160" y="0"/>
                </a:moveTo>
                <a:lnTo>
                  <a:pt x="160" y="0"/>
                </a:lnTo>
                <a:cubicBezTo>
                  <a:pt x="248" y="0"/>
                  <a:pt x="320" y="72"/>
                  <a:pt x="320" y="160"/>
                </a:cubicBezTo>
                <a:lnTo>
                  <a:pt x="320" y="160"/>
                </a:lnTo>
                <a:cubicBezTo>
                  <a:pt x="320" y="248"/>
                  <a:pt x="248" y="320"/>
                  <a:pt x="160" y="320"/>
                </a:cubicBezTo>
                <a:lnTo>
                  <a:pt x="160" y="320"/>
                </a:lnTo>
                <a:cubicBezTo>
                  <a:pt x="72" y="320"/>
                  <a:pt x="0" y="248"/>
                  <a:pt x="0" y="160"/>
                </a:cubicBezTo>
                <a:lnTo>
                  <a:pt x="0" y="160"/>
                </a:lnTo>
                <a:cubicBezTo>
                  <a:pt x="0" y="72"/>
                  <a:pt x="72" y="0"/>
                  <a:pt x="160" y="0"/>
                </a:cubicBezTo>
                <a:close/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95" name=""/>
          <p:cNvSpPr/>
          <p:nvPr/>
        </p:nvSpPr>
        <p:spPr>
          <a:xfrm rot="0" flipH="0" flipV="0">
            <a:off x="762000" y="3810000"/>
            <a:ext cx="2476500" cy="2476500"/>
          </a:xfrm>
          <a:custGeom>
            <a:pathLst>
              <a:path w="260" h="260">
                <a:moveTo>
                  <a:pt x="130" y="0"/>
                </a:moveTo>
                <a:lnTo>
                  <a:pt x="130" y="0"/>
                </a:lnTo>
                <a:cubicBezTo>
                  <a:pt x="202" y="0"/>
                  <a:pt x="260" y="58"/>
                  <a:pt x="260" y="130"/>
                </a:cubicBezTo>
                <a:lnTo>
                  <a:pt x="260" y="130"/>
                </a:lnTo>
                <a:cubicBezTo>
                  <a:pt x="260" y="202"/>
                  <a:pt x="202" y="260"/>
                  <a:pt x="130" y="260"/>
                </a:cubicBezTo>
                <a:lnTo>
                  <a:pt x="130" y="260"/>
                </a:lnTo>
                <a:cubicBezTo>
                  <a:pt x="58" y="260"/>
                  <a:pt x="0" y="202"/>
                  <a:pt x="0" y="130"/>
                </a:cubicBezTo>
                <a:lnTo>
                  <a:pt x="0" y="130"/>
                </a:lnTo>
                <a:cubicBezTo>
                  <a:pt x="0" y="58"/>
                  <a:pt x="58" y="0"/>
                  <a:pt x="130" y="0"/>
                </a:cubicBezTo>
                <a:close/>
              </a:path>
            </a:pathLst>
          </a:custGeom>
          <a:solidFill>
            <a:srgbClr val="FFFFFF">
              <a:alpha val="8000"/>
            </a:srgbClr>
          </a:solidFill>
          <a:ln/>
        </p:spPr>
        <p:txBody>
          <a:bodyPr/>
          <a:p>
            <a:pPr/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19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7FAFC"/>
          </a:solidFill>
          <a:ln/>
        </p:spPr>
        <p:txBody>
          <a:bodyPr/>
          <a:p>
            <a:pPr/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666750" y="381000"/>
            <a:ext cx="26955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1A365D"/>
                </a:solidFill>
                <a:latin typeface="Microsoft YaHei"/>
                <a:ea typeface="Microsoft YaHei"/>
              </a:rPr>
              <a:t>KR1 </a:t>
            </a:r>
            <a:r>
              <a:rPr lang="zh-CN" sz="2550" b="1">
                <a:solidFill>
                  <a:srgbClr val="1A365D"/>
                </a:solidFill>
                <a:latin typeface="Microsoft YaHei"/>
                <a:ea typeface="Microsoft YaHei"/>
              </a:rPr>
              <a:t>结构化硬指标</a:t>
            </a:r>
            <a:endParaRPr/>
          </a:p>
        </p:txBody>
      </p:sp>
      <p:sp>
        <p:nvSpPr>
          <p:cNvPr id="199" name="" descr="{&quot;isTemplate&quot;:true,&quot;type&quot;:&quot;text&quot;}"/>
          <p:cNvSpPr txBox="1"/>
          <p:nvPr/>
        </p:nvSpPr>
        <p:spPr>
          <a:xfrm rot="0" flipH="0" flipV="0">
            <a:off x="3495675" y="381000"/>
            <a:ext cx="21621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718096"/>
                </a:solidFill>
                <a:latin typeface="Microsoft YaHei"/>
                <a:ea typeface="Microsoft YaHei"/>
              </a:rPr>
              <a:t>官方</a:t>
            </a:r>
            <a:r>
              <a:rPr lang="en-US" sz="1350">
                <a:solidFill>
                  <a:srgbClr val="718096"/>
                </a:solidFill>
                <a:latin typeface="Microsoft YaHei"/>
                <a:ea typeface="Microsoft YaHei"/>
              </a:rPr>
              <a:t> 70 </a:t>
            </a:r>
            <a:r>
              <a:rPr lang="zh-CN" sz="1350">
                <a:solidFill>
                  <a:srgbClr val="718096"/>
                </a:solidFill>
                <a:latin typeface="Microsoft YaHei"/>
                <a:ea typeface="Microsoft YaHei"/>
              </a:rPr>
              <a:t>案</a:t>
            </a:r>
            <a:r>
              <a:rPr lang="en-US" sz="1350">
                <a:solidFill>
                  <a:srgbClr val="718096"/>
                </a:solidFill>
                <a:latin typeface="Microsoft YaHei"/>
                <a:ea typeface="Microsoft YaHei"/>
              </a:rPr>
              <a:t> · </a:t>
            </a:r>
            <a:r>
              <a:rPr lang="zh-CN" sz="1350">
                <a:solidFill>
                  <a:srgbClr val="718096"/>
                </a:solidFill>
                <a:latin typeface="Microsoft YaHei"/>
                <a:ea typeface="Microsoft YaHei"/>
              </a:rPr>
              <a:t>两项硬指标达标</a:t>
            </a:r>
            <a:endParaRPr/>
          </a:p>
        </p:txBody>
      </p:sp>
      <p:sp>
        <p:nvSpPr>
          <p:cNvPr id="200" name=""/>
          <p:cNvSpPr/>
          <p:nvPr/>
        </p:nvSpPr>
        <p:spPr>
          <a:xfrm rot="0" flipH="0" flipV="0">
            <a:off x="666750" y="1114425"/>
            <a:ext cx="3419475" cy="3657600"/>
          </a:xfrm>
          <a:prstGeom prst="roundRect">
            <a:avLst>
              <a:gd name="adj" fmla="val 4457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6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1428750" y="2066925"/>
            <a:ext cx="189547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400" b="1">
                <a:solidFill>
                  <a:srgbClr val="2B6CB0"/>
                </a:solidFill>
                <a:latin typeface="Microsoft YaHei"/>
                <a:ea typeface="Microsoft YaHei"/>
              </a:rPr>
              <a:t>0.933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1647825" y="3086100"/>
            <a:ext cx="1466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365D"/>
                </a:solidFill>
                <a:latin typeface="Microsoft YaHei"/>
                <a:ea typeface="Microsoft YaHei"/>
              </a:rPr>
              <a:t>标量字段准确率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1600200" y="3476625"/>
            <a:ext cx="1552575" cy="342900"/>
          </a:xfrm>
          <a:prstGeom prst="roundRect">
            <a:avLst>
              <a:gd name="adj" fmla="val 55556"/>
            </a:avLst>
          </a:prstGeom>
          <a:solidFill>
            <a:srgbClr val="E6FFFA"/>
          </a:solidFill>
          <a:ln w="12700">
            <a:solidFill>
              <a:srgbClr val="B2F5EA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1752600" y="3552825"/>
            <a:ext cx="12477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2C7A7B"/>
                </a:solidFill>
                <a:latin typeface="Microsoft YaHei"/>
                <a:ea typeface="Microsoft YaHei"/>
              </a:rPr>
              <a:t>目标</a:t>
            </a:r>
            <a:r>
              <a:rPr lang="en-US" sz="1200">
                <a:solidFill>
                  <a:srgbClr val="2C7A7B"/>
                </a:solidFill>
                <a:latin typeface="Microsoft YaHei"/>
                <a:ea typeface="Microsoft YaHei"/>
              </a:rPr>
              <a:t> ≥ 0.90 · </a:t>
            </a:r>
            <a:r>
              <a:rPr lang="zh-CN" sz="1200">
                <a:solidFill>
                  <a:srgbClr val="2C7A7B"/>
                </a:solidFill>
                <a:latin typeface="Microsoft YaHei"/>
                <a:ea typeface="Microsoft YaHei"/>
              </a:rPr>
              <a:t>达标</a:t>
            </a:r>
            <a:endParaRPr/>
          </a:p>
        </p:txBody>
      </p:sp>
      <p:sp>
        <p:nvSpPr>
          <p:cNvPr id="205" name=""/>
          <p:cNvSpPr/>
          <p:nvPr/>
        </p:nvSpPr>
        <p:spPr>
          <a:xfrm rot="0" flipH="0" flipV="0">
            <a:off x="4391025" y="1114425"/>
            <a:ext cx="3409950" cy="3657600"/>
          </a:xfrm>
          <a:prstGeom prst="roundRect">
            <a:avLst>
              <a:gd name="adj" fmla="val 4469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6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06" name="" descr="{&quot;isTemplate&quot;:true,&quot;type&quot;:&quot;text&quot;}"/>
          <p:cNvSpPr txBox="1"/>
          <p:nvPr/>
        </p:nvSpPr>
        <p:spPr>
          <a:xfrm rot="0" flipH="0" flipV="0">
            <a:off x="5048250" y="2066925"/>
            <a:ext cx="210502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400" b="1">
                <a:solidFill>
                  <a:srgbClr val="38B2AC"/>
                </a:solidFill>
                <a:latin typeface="Microsoft YaHei"/>
                <a:ea typeface="Microsoft YaHei"/>
              </a:rPr>
              <a:t>1.09%</a:t>
            </a:r>
            <a:endParaRPr/>
          </a:p>
        </p:txBody>
      </p:sp>
      <p:sp>
        <p:nvSpPr>
          <p:cNvPr id="207" name="" descr="{&quot;isTemplate&quot;:true,&quot;type&quot;:&quot;text&quot;}"/>
          <p:cNvSpPr txBox="1"/>
          <p:nvPr/>
        </p:nvSpPr>
        <p:spPr>
          <a:xfrm rot="0" flipH="0" flipV="0">
            <a:off x="5362575" y="3086100"/>
            <a:ext cx="146685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365D"/>
                </a:solidFill>
                <a:latin typeface="Microsoft YaHei"/>
                <a:ea typeface="Microsoft YaHei"/>
              </a:rPr>
              <a:t>关键字段缺失率</a:t>
            </a:r>
            <a:endParaRPr/>
          </a:p>
        </p:txBody>
      </p:sp>
      <p:sp>
        <p:nvSpPr>
          <p:cNvPr id="208" name=""/>
          <p:cNvSpPr/>
          <p:nvPr/>
        </p:nvSpPr>
        <p:spPr>
          <a:xfrm rot="0" flipH="0" flipV="0">
            <a:off x="5362575" y="3476625"/>
            <a:ext cx="1476375" cy="342900"/>
          </a:xfrm>
          <a:prstGeom prst="roundRect">
            <a:avLst>
              <a:gd name="adj" fmla="val 55556"/>
            </a:avLst>
          </a:prstGeom>
          <a:solidFill>
            <a:srgbClr val="E6FFFA"/>
          </a:solidFill>
          <a:ln w="12700">
            <a:solidFill>
              <a:srgbClr val="B2F5EA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5514975" y="3552825"/>
            <a:ext cx="11715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2C7A7B"/>
                </a:solidFill>
                <a:latin typeface="Microsoft YaHei"/>
                <a:ea typeface="Microsoft YaHei"/>
              </a:rPr>
              <a:t>目标</a:t>
            </a:r>
            <a:r>
              <a:rPr lang="en-US" sz="1200">
                <a:solidFill>
                  <a:srgbClr val="2C7A7B"/>
                </a:solidFill>
                <a:latin typeface="Microsoft YaHei"/>
                <a:ea typeface="Microsoft YaHei"/>
              </a:rPr>
              <a:t> &lt; 5% · </a:t>
            </a:r>
            <a:r>
              <a:rPr lang="zh-CN" sz="1200">
                <a:solidFill>
                  <a:srgbClr val="2C7A7B"/>
                </a:solidFill>
                <a:latin typeface="Microsoft YaHei"/>
                <a:ea typeface="Microsoft YaHei"/>
              </a:rPr>
              <a:t>达标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8105775" y="1114425"/>
            <a:ext cx="3419475" cy="3657600"/>
          </a:xfrm>
          <a:prstGeom prst="roundRect">
            <a:avLst>
              <a:gd name="adj" fmla="val 4457"/>
            </a:avLst>
          </a:prstGeom>
          <a:solidFill>
            <a:srgbClr val="FFFFFF"/>
          </a:solidFill>
          <a:ln/>
          <a:effectLst>
            <a:outerShdw blurRad="190500" dist="38100" dir="5400000">
              <a:srgbClr val="000000">
                <a:alpha val="6000"/>
              </a:srgbClr>
            </a:outerShdw>
          </a:effectLst>
        </p:spPr>
        <p:txBody>
          <a:bodyPr/>
          <a:p>
            <a:pPr/>
            <a:endParaRPr/>
          </a:p>
        </p:txBody>
      </p:sp>
      <p:sp>
        <p:nvSpPr>
          <p:cNvPr id="211" name="" descr="{&quot;isTemplate&quot;:true,&quot;type&quot;:&quot;text&quot;}"/>
          <p:cNvSpPr txBox="1"/>
          <p:nvPr/>
        </p:nvSpPr>
        <p:spPr>
          <a:xfrm rot="0" flipH="0" flipV="0">
            <a:off x="8867775" y="2066925"/>
            <a:ext cx="1895475" cy="8286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5400" b="1">
                <a:solidFill>
                  <a:srgbClr val="1A365D"/>
                </a:solidFill>
                <a:latin typeface="Microsoft YaHei"/>
                <a:ea typeface="Microsoft YaHei"/>
              </a:rPr>
              <a:t>0.849</a:t>
            </a:r>
            <a:endParaRPr/>
          </a:p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9029700" y="3086100"/>
            <a:ext cx="157162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 b="1">
                <a:solidFill>
                  <a:srgbClr val="1A365D"/>
                </a:solidFill>
                <a:latin typeface="Microsoft YaHei"/>
                <a:ea typeface="Microsoft YaHei"/>
              </a:rPr>
              <a:t>核心字段宏观</a:t>
            </a:r>
            <a:r>
              <a:rPr lang="en-US" sz="1650" b="1">
                <a:solidFill>
                  <a:srgbClr val="1A365D"/>
                </a:solidFill>
                <a:latin typeface="Microsoft YaHei"/>
                <a:ea typeface="Microsoft YaHei"/>
              </a:rPr>
              <a:t> F1</a:t>
            </a:r>
            <a:endParaRPr/>
          </a:p>
        </p:txBody>
      </p:sp>
      <p:sp>
        <p:nvSpPr>
          <p:cNvPr id="213" name=""/>
          <p:cNvSpPr/>
          <p:nvPr/>
        </p:nvSpPr>
        <p:spPr>
          <a:xfrm rot="0" flipH="0" flipV="0">
            <a:off x="8943975" y="3476625"/>
            <a:ext cx="1752600" cy="342900"/>
          </a:xfrm>
          <a:prstGeom prst="roundRect">
            <a:avLst>
              <a:gd name="adj" fmla="val 55556"/>
            </a:avLst>
          </a:prstGeom>
          <a:solidFill>
            <a:srgbClr val="FFF5F5"/>
          </a:solidFill>
          <a:ln w="12700">
            <a:solidFill>
              <a:srgbClr val="FED7D7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14" name="" descr="{&quot;isTemplate&quot;:true,&quot;type&quot;:&quot;text&quot;}"/>
          <p:cNvSpPr txBox="1"/>
          <p:nvPr/>
        </p:nvSpPr>
        <p:spPr>
          <a:xfrm rot="0" flipH="0" flipV="0">
            <a:off x="9096375" y="3552825"/>
            <a:ext cx="14478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C53030"/>
                </a:solidFill>
                <a:latin typeface="Microsoft YaHei"/>
                <a:ea typeface="Microsoft YaHei"/>
              </a:rPr>
              <a:t>目标</a:t>
            </a:r>
            <a:r>
              <a:rPr lang="en-US" sz="1200">
                <a:solidFill>
                  <a:srgbClr val="C53030"/>
                </a:solidFill>
                <a:latin typeface="Microsoft YaHei"/>
                <a:ea typeface="Microsoft YaHei"/>
              </a:rPr>
              <a:t> ≥ 0.90 · </a:t>
            </a:r>
            <a:r>
              <a:rPr lang="zh-CN" sz="1200">
                <a:solidFill>
                  <a:srgbClr val="C53030"/>
                </a:solidFill>
                <a:latin typeface="Microsoft YaHei"/>
                <a:ea typeface="Microsoft YaHei"/>
              </a:rPr>
              <a:t>差</a:t>
            </a:r>
            <a:r>
              <a:rPr lang="en-US" sz="1200">
                <a:solidFill>
                  <a:srgbClr val="C53030"/>
                </a:solidFill>
                <a:latin typeface="Microsoft YaHei"/>
                <a:ea typeface="Microsoft YaHei"/>
              </a:rPr>
              <a:t> 0.05</a:t>
            </a:r>
            <a:endParaRPr/>
          </a:p>
        </p:txBody>
      </p:sp>
      <p:sp>
        <p:nvSpPr>
          <p:cNvPr id="215" name=""/>
          <p:cNvSpPr/>
          <p:nvPr/>
        </p:nvSpPr>
        <p:spPr>
          <a:xfrm rot="0" flipH="0" flipV="0">
            <a:off x="666750" y="5076825"/>
            <a:ext cx="10858500" cy="1047750"/>
          </a:xfrm>
          <a:prstGeom prst="roundRect">
            <a:avLst>
              <a:gd name="adj" fmla="val 10909"/>
            </a:avLst>
          </a:prstGeom>
          <a:solidFill>
            <a:srgbClr val="EBF8FF"/>
          </a:solidFill>
          <a:ln w="12700">
            <a:solidFill>
              <a:srgbClr val="BEE3F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933450" y="5267325"/>
            <a:ext cx="1032510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350">
                <a:solidFill>
                  <a:srgbClr val="2C5282"/>
                </a:solidFill>
                <a:latin typeface="Microsoft YaHei"/>
                <a:ea typeface="Microsoft YaHei"/>
              </a:rPr>
              <a:t>剩余</a:t>
            </a:r>
            <a:r>
              <a:rPr lang="en-US" sz="1350">
                <a:solidFill>
                  <a:srgbClr val="2C5282"/>
                </a:solidFill>
                <a:latin typeface="Microsoft YaHei"/>
                <a:ea typeface="Microsoft YaHei"/>
              </a:rPr>
              <a:t> 0.05 </a:t>
            </a:r>
            <a:r>
              <a:rPr lang="zh-CN" sz="1350">
                <a:solidFill>
                  <a:srgbClr val="2C5282"/>
                </a:solidFill>
                <a:latin typeface="Microsoft YaHei"/>
                <a:ea typeface="Microsoft YaHei"/>
              </a:rPr>
              <a:t>差距是真实的命名颗粒度问题（</a:t>
            </a:r>
            <a:r>
              <a:rPr lang="en-US" sz="1350">
                <a:solidFill>
                  <a:srgbClr val="2C5282"/>
                </a:solidFill>
                <a:latin typeface="Microsoft YaHei"/>
                <a:ea typeface="Microsoft YaHei"/>
              </a:rPr>
              <a:t>LLM </a:t>
            </a:r>
            <a:r>
              <a:rPr lang="zh-CN" sz="1350">
                <a:solidFill>
                  <a:srgbClr val="2C5282"/>
                </a:solidFill>
                <a:latin typeface="Microsoft YaHei"/>
                <a:ea typeface="Microsoft YaHei"/>
              </a:rPr>
              <a:t>术式全称</a:t>
            </a:r>
            <a:r>
              <a:rPr lang="en-US" sz="1350">
                <a:solidFill>
                  <a:srgbClr val="2C5282"/>
                </a:solidFill>
                <a:latin typeface="Microsoft YaHei"/>
                <a:ea typeface="Microsoft YaHei"/>
              </a:rPr>
              <a:t> vs </a:t>
            </a:r>
            <a:r>
              <a:rPr lang="zh-CN" sz="1350">
                <a:solidFill>
                  <a:srgbClr val="2C5282"/>
                </a:solidFill>
                <a:latin typeface="Microsoft YaHei"/>
                <a:ea typeface="Microsoft YaHei"/>
              </a:rPr>
              <a:t>收费简称），已在</a:t>
            </a:r>
            <a:r>
              <a:rPr lang="en-US" sz="1350">
                <a:solidFill>
                  <a:srgbClr val="2C5282"/>
                </a:solidFill>
                <a:latin typeface="Microsoft YaHei"/>
                <a:ea typeface="Microsoft YaHei"/>
              </a:rPr>
              <a:t> prompt </a:t>
            </a:r>
            <a:r>
              <a:rPr lang="zh-CN" sz="1350">
                <a:solidFill>
                  <a:srgbClr val="2C5282"/>
                </a:solidFill>
                <a:latin typeface="Microsoft YaHei"/>
                <a:ea typeface="Microsoft YaHei"/>
              </a:rPr>
              <a:t>层优化（</a:t>
            </a:r>
            <a:r>
              <a:rPr lang="en-US" sz="1350">
                <a:solidFill>
                  <a:srgbClr val="2C5282"/>
                </a:solidFill>
                <a:latin typeface="Microsoft YaHei"/>
                <a:ea typeface="Microsoft YaHei"/>
              </a:rPr>
              <a:t>0.812 → 0.849</a:t>
            </a:r>
            <a:r>
              <a:rPr lang="zh-CN" sz="1350">
                <a:solidFill>
                  <a:srgbClr val="2C5282"/>
                </a:solidFill>
                <a:latin typeface="Microsoft YaHei"/>
                <a:ea typeface="Microsoft YaHei"/>
              </a:rPr>
              <a:t>），继续调参收益递减。</a:t>
            </a:r>
            <a:endParaRPr/>
          </a:p>
        </p:txBody>
      </p:sp>
      <p:sp>
        <p:nvSpPr>
          <p:cNvPr id="217" name="" descr="{&quot;isTemplate&quot;:true,&quot;type&quot;:&quot;text&quot;}"/>
          <p:cNvSpPr txBox="1"/>
          <p:nvPr/>
        </p:nvSpPr>
        <p:spPr>
          <a:xfrm rot="0" flipH="0" flipV="0">
            <a:off x="666750" y="6315075"/>
            <a:ext cx="1466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医护洞察与温度指引引擎</a:t>
            </a:r>
            <a:endParaRPr/>
          </a:p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11068050" y="63150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07 / 13</a:t>
            </a:r>
            <a:endParaRPr lang="en-US" sz="1050">
              <a:solidFill>
                <a:srgbClr val="718096"/>
              </a:solidFill>
              <a:latin typeface="Microsoft YaHei"/>
              <a:ea typeface="Microsoft YaHei"/>
            </a:endParaRPr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>
  <p:cSld>
    <p:spTree>
      <p:nvGrpSpPr>
        <p:cNvPr id="219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666750" y="381000"/>
            <a:ext cx="19431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A365D"/>
                </a:solidFill>
                <a:latin typeface="Microsoft YaHei"/>
                <a:ea typeface="Microsoft YaHei"/>
              </a:rPr>
              <a:t>温度指引盲评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2743200" y="381000"/>
            <a:ext cx="14859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>
                <a:solidFill>
                  <a:srgbClr val="718096"/>
                </a:solidFill>
                <a:latin typeface="Microsoft YaHei"/>
                <a:ea typeface="Microsoft YaHei"/>
              </a:rPr>
              <a:t>3 </a:t>
            </a:r>
            <a:r>
              <a:rPr lang="zh-CN" sz="1350">
                <a:solidFill>
                  <a:srgbClr val="718096"/>
                </a:solidFill>
                <a:latin typeface="Microsoft YaHei"/>
                <a:ea typeface="Microsoft YaHei"/>
              </a:rPr>
              <a:t>病种</a:t>
            </a:r>
            <a:r>
              <a:rPr lang="en-US" sz="1350">
                <a:solidFill>
                  <a:srgbClr val="718096"/>
                </a:solidFill>
                <a:latin typeface="Microsoft YaHei"/>
                <a:ea typeface="Microsoft YaHei"/>
              </a:rPr>
              <a:t> · </a:t>
            </a:r>
            <a:r>
              <a:rPr lang="zh-CN" sz="1350">
                <a:solidFill>
                  <a:srgbClr val="718096"/>
                </a:solidFill>
                <a:latin typeface="Microsoft YaHei"/>
                <a:ea typeface="Microsoft YaHei"/>
              </a:rPr>
              <a:t>全部</a:t>
            </a:r>
            <a:r>
              <a:rPr lang="en-US" sz="1350">
                <a:solidFill>
                  <a:srgbClr val="718096"/>
                </a:solidFill>
                <a:latin typeface="Microsoft YaHei"/>
                <a:ea typeface="Microsoft YaHei"/>
              </a:rPr>
              <a:t> ≥ 4/5</a:t>
            </a:r>
            <a:endParaRPr/>
          </a:p>
        </p:txBody>
      </p:sp>
      <p:sp>
        <p:nvSpPr>
          <p:cNvPr id="223" name=""/>
          <p:cNvSpPr/>
          <p:nvPr/>
        </p:nvSpPr>
        <p:spPr>
          <a:xfrm rot="0" flipH="0" flipV="0">
            <a:off x="666750" y="1076325"/>
            <a:ext cx="5295900" cy="5010150"/>
          </a:xfrm>
          <a:prstGeom prst="roundRect">
            <a:avLst>
              <a:gd name="adj" fmla="val 3042"/>
            </a:avLst>
          </a:prstGeom>
          <a:solidFill>
            <a:srgbClr val="EBF8FF"/>
          </a:solidFill>
          <a:ln w="12700">
            <a:solidFill>
              <a:srgbClr val="BEE3F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24" name="" descr="{&quot;isTemplate&quot;:true,&quot;type&quot;:&quot;text&quot;}"/>
          <p:cNvSpPr txBox="1"/>
          <p:nvPr/>
        </p:nvSpPr>
        <p:spPr>
          <a:xfrm rot="0" flipH="0" flipV="0">
            <a:off x="971550" y="2486025"/>
            <a:ext cx="46863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2B6CB0"/>
                </a:solidFill>
                <a:latin typeface="Microsoft YaHei"/>
                <a:ea typeface="Microsoft YaHei"/>
              </a:rPr>
              <a:t>一份真实的温度指引（节选）</a:t>
            </a:r>
            <a:endParaRPr/>
          </a:p>
        </p:txBody>
      </p:sp>
      <p:sp>
        <p:nvSpPr>
          <p:cNvPr id="225" name="" descr="{&quot;isTemplate&quot;:true,&quot;type&quot;:&quot;text&quot;}"/>
          <p:cNvSpPr txBox="1"/>
          <p:nvPr/>
        </p:nvSpPr>
        <p:spPr>
          <a:xfrm rot="0" flipH="0" flipV="0">
            <a:off x="971550" y="2847975"/>
            <a:ext cx="4686300" cy="7429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en-US" sz="1350" i="1">
                <a:solidFill>
                  <a:srgbClr val="2C5282"/>
                </a:solidFill>
                <a:latin typeface="Microsoft YaHei"/>
                <a:ea typeface="Microsoft YaHei"/>
              </a:rPr>
              <a:t>"</a:t>
            </a:r>
            <a:r>
              <a:rPr lang="zh-CN" sz="1350" i="1">
                <a:solidFill>
                  <a:srgbClr val="2C5282"/>
                </a:solidFill>
                <a:latin typeface="Microsoft YaHei"/>
                <a:ea typeface="Microsoft YaHei"/>
              </a:rPr>
              <a:t>贾阿姨您好，这次因为右肩膀的问题住院手术，前后</a:t>
            </a:r>
            <a:r>
              <a:rPr lang="en-US" sz="1350" i="1">
                <a:solidFill>
                  <a:srgbClr val="2C5282"/>
                </a:solidFill>
                <a:latin typeface="Microsoft YaHei"/>
                <a:ea typeface="Microsoft YaHei"/>
              </a:rPr>
              <a:t> 4 </a:t>
            </a:r>
            <a:r>
              <a:rPr lang="zh-CN" sz="1350" i="1">
                <a:solidFill>
                  <a:srgbClr val="2C5282"/>
                </a:solidFill>
                <a:latin typeface="Microsoft YaHei"/>
                <a:ea typeface="Microsoft YaHei"/>
              </a:rPr>
              <a:t>天，您辛苦了……</a:t>
            </a:r>
            <a:r>
              <a:rPr lang="en-US" sz="1350" i="1">
                <a:solidFill>
                  <a:srgbClr val="2C5282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226" name=""/>
          <p:cNvSpPr/>
          <p:nvPr/>
        </p:nvSpPr>
        <p:spPr>
          <a:xfrm rot="0" flipH="0" flipV="0">
            <a:off x="971550" y="3781425"/>
            <a:ext cx="4686300" cy="895350"/>
          </a:xfrm>
          <a:prstGeom prst="roundRect">
            <a:avLst>
              <a:gd name="adj" fmla="val 10638"/>
            </a:avLst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1143000" y="3914775"/>
            <a:ext cx="43434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锚定真实数字：住院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 4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天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 ·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总费用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 43603.13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元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 ·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肩袖破裂修补术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 ·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术后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 2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周复查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6229350" y="1628775"/>
            <a:ext cx="5295900" cy="800100"/>
          </a:xfrm>
          <a:prstGeom prst="roundRect">
            <a:avLst>
              <a:gd name="adj" fmla="val 14286"/>
            </a:avLst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6457950" y="1914525"/>
            <a:ext cx="38290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365D"/>
                </a:solidFill>
                <a:latin typeface="Microsoft YaHei"/>
                <a:ea typeface="Microsoft YaHei"/>
              </a:rPr>
              <a:t>呼吸道感染</a:t>
            </a:r>
            <a:r>
              <a:rPr lang="en-US" sz="1500" b="1">
                <a:solidFill>
                  <a:srgbClr val="1A365D"/>
                </a:solidFill>
                <a:latin typeface="Microsoft YaHei"/>
                <a:ea typeface="Microsoft YaHei"/>
              </a:rPr>
              <a:t> + </a:t>
            </a:r>
            <a:r>
              <a:rPr lang="zh-CN" sz="1500" b="1">
                <a:solidFill>
                  <a:srgbClr val="1A365D"/>
                </a:solidFill>
                <a:latin typeface="Microsoft YaHei"/>
                <a:ea typeface="Microsoft YaHei"/>
              </a:rPr>
              <a:t>甲流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10287000" y="1819275"/>
            <a:ext cx="7334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2B6CB0"/>
                </a:solidFill>
                <a:latin typeface="Microsoft YaHei"/>
                <a:ea typeface="Microsoft YaHei"/>
              </a:rPr>
              <a:t>4.58</a:t>
            </a:r>
            <a:endParaRPr/>
          </a:p>
        </p:txBody>
      </p:sp>
      <p:sp>
        <p:nvSpPr>
          <p:cNvPr id="231" name="" descr="{&quot;isTemplate&quot;:true,&quot;type&quot;:&quot;text&quot;}"/>
          <p:cNvSpPr txBox="1"/>
          <p:nvPr/>
        </p:nvSpPr>
        <p:spPr>
          <a:xfrm rot="0" flipH="0" flipV="0">
            <a:off x="11096625" y="1933575"/>
            <a:ext cx="200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718096"/>
                </a:solidFill>
                <a:latin typeface="Microsoft YaHei"/>
                <a:ea typeface="Microsoft YaHei"/>
              </a:rPr>
              <a:t>/ 5</a:t>
            </a:r>
            <a:endParaRPr/>
          </a:p>
        </p:txBody>
      </p:sp>
      <p:sp>
        <p:nvSpPr>
          <p:cNvPr id="232" name=""/>
          <p:cNvSpPr/>
          <p:nvPr/>
        </p:nvSpPr>
        <p:spPr>
          <a:xfrm rot="0" flipH="0" flipV="0">
            <a:off x="6229350" y="2619375"/>
            <a:ext cx="5295900" cy="800100"/>
          </a:xfrm>
          <a:prstGeom prst="roundRect">
            <a:avLst>
              <a:gd name="adj" fmla="val 14286"/>
            </a:avLst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6457950" y="2905125"/>
            <a:ext cx="38290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365D"/>
                </a:solidFill>
                <a:latin typeface="Microsoft YaHei"/>
                <a:ea typeface="Microsoft YaHei"/>
              </a:rPr>
              <a:t>多囊卵巢综合征</a:t>
            </a:r>
            <a:endParaRPr/>
          </a:p>
        </p:txBody>
      </p:sp>
      <p:sp>
        <p:nvSpPr>
          <p:cNvPr id="234" name="" descr="{&quot;isTemplate&quot;:true,&quot;type&quot;:&quot;text&quot;}"/>
          <p:cNvSpPr txBox="1"/>
          <p:nvPr/>
        </p:nvSpPr>
        <p:spPr>
          <a:xfrm rot="0" flipH="0" flipV="0">
            <a:off x="10287000" y="2809875"/>
            <a:ext cx="7334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2B6CB0"/>
                </a:solidFill>
                <a:latin typeface="Microsoft YaHei"/>
                <a:ea typeface="Microsoft YaHei"/>
              </a:rPr>
              <a:t>4.92</a:t>
            </a:r>
            <a:endParaRPr/>
          </a:p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11096625" y="2924175"/>
            <a:ext cx="200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718096"/>
                </a:solidFill>
                <a:latin typeface="Microsoft YaHei"/>
                <a:ea typeface="Microsoft YaHei"/>
              </a:rPr>
              <a:t>/ 5</a:t>
            </a:r>
            <a:endParaRPr/>
          </a:p>
        </p:txBody>
      </p:sp>
      <p:sp>
        <p:nvSpPr>
          <p:cNvPr id="236" name=""/>
          <p:cNvSpPr/>
          <p:nvPr/>
        </p:nvSpPr>
        <p:spPr>
          <a:xfrm rot="0" flipH="0" flipV="0">
            <a:off x="6229350" y="3609975"/>
            <a:ext cx="5295900" cy="800100"/>
          </a:xfrm>
          <a:prstGeom prst="roundRect">
            <a:avLst>
              <a:gd name="adj" fmla="val 14286"/>
            </a:avLst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6457950" y="3895725"/>
            <a:ext cx="38290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365D"/>
                </a:solidFill>
                <a:latin typeface="Microsoft YaHei"/>
                <a:ea typeface="Microsoft YaHei"/>
              </a:rPr>
              <a:t>乳房恶性肿瘤</a:t>
            </a:r>
            <a:endParaRPr/>
          </a:p>
        </p:txBody>
      </p:sp>
      <p:sp>
        <p:nvSpPr>
          <p:cNvPr id="238" name="" descr="{&quot;isTemplate&quot;:true,&quot;type&quot;:&quot;text&quot;}"/>
          <p:cNvSpPr txBox="1"/>
          <p:nvPr/>
        </p:nvSpPr>
        <p:spPr>
          <a:xfrm rot="0" flipH="0" flipV="0">
            <a:off x="10287000" y="3800475"/>
            <a:ext cx="733425" cy="4191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700" b="1">
                <a:solidFill>
                  <a:srgbClr val="2B6CB0"/>
                </a:solidFill>
                <a:latin typeface="Microsoft YaHei"/>
                <a:ea typeface="Microsoft YaHei"/>
              </a:rPr>
              <a:t>4.33</a:t>
            </a:r>
            <a:endParaRPr/>
          </a:p>
        </p:txBody>
      </p:sp>
      <p:sp>
        <p:nvSpPr>
          <p:cNvPr id="239" name="" descr="{&quot;isTemplate&quot;:true,&quot;type&quot;:&quot;text&quot;}"/>
          <p:cNvSpPr txBox="1"/>
          <p:nvPr/>
        </p:nvSpPr>
        <p:spPr>
          <a:xfrm rot="0" flipH="0" flipV="0">
            <a:off x="11096625" y="3914775"/>
            <a:ext cx="200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>
                <a:solidFill>
                  <a:srgbClr val="718096"/>
                </a:solidFill>
                <a:latin typeface="Microsoft YaHei"/>
                <a:ea typeface="Microsoft YaHei"/>
              </a:rPr>
              <a:t>/ 5</a:t>
            </a:r>
            <a:endParaRPr/>
          </a:p>
        </p:txBody>
      </p:sp>
      <p:sp>
        <p:nvSpPr>
          <p:cNvPr id="240" name=""/>
          <p:cNvSpPr/>
          <p:nvPr/>
        </p:nvSpPr>
        <p:spPr>
          <a:xfrm rot="0" flipH="0" flipV="0">
            <a:off x="6229350" y="4600575"/>
            <a:ext cx="5295900" cy="933450"/>
          </a:xfrm>
          <a:prstGeom prst="roundRect">
            <a:avLst>
              <a:gd name="adj" fmla="val 12245"/>
            </a:avLst>
          </a:prstGeom>
          <a:solidFill>
            <a:srgbClr val="E6FFFA"/>
          </a:solidFill>
          <a:ln w="12700">
            <a:solidFill>
              <a:srgbClr val="B2F5EA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6419850" y="4752975"/>
            <a:ext cx="4914900" cy="6286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60000"/>
              </a:lnSpc>
            </a:pPr>
            <a:r>
              <a:rPr lang="zh-CN" sz="1275">
                <a:solidFill>
                  <a:srgbClr val="2C7A7B"/>
                </a:solidFill>
                <a:latin typeface="Microsoft YaHei"/>
                <a:ea typeface="Microsoft YaHei"/>
              </a:rPr>
              <a:t>反模板自检：个性化分数</a:t>
            </a:r>
            <a:r>
              <a:rPr lang="en-US" sz="1275">
                <a:solidFill>
                  <a:srgbClr val="2C7A7B"/>
                </a:solidFill>
                <a:latin typeface="Microsoft YaHei"/>
                <a:ea typeface="Microsoft YaHei"/>
              </a:rPr>
              <a:t> 1.0 —— </a:t>
            </a:r>
            <a:r>
              <a:rPr lang="zh-CN" sz="1275">
                <a:solidFill>
                  <a:srgbClr val="2C7A7B"/>
                </a:solidFill>
                <a:latin typeface="Microsoft YaHei"/>
                <a:ea typeface="Microsoft YaHei"/>
              </a:rPr>
              <a:t>温度建立在真实数据上，而非通用科普拼接。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666750" y="6315075"/>
            <a:ext cx="1466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医护洞察与温度指引引擎</a:t>
            </a:r>
            <a:endParaRPr/>
          </a:p>
        </p:txBody>
      </p:sp>
      <p:sp>
        <p:nvSpPr>
          <p:cNvPr id="243" name="" descr="{&quot;isTemplate&quot;:true,&quot;type&quot;:&quot;text&quot;}"/>
          <p:cNvSpPr txBox="1"/>
          <p:nvPr/>
        </p:nvSpPr>
        <p:spPr>
          <a:xfrm rot="0" flipH="0" flipV="0">
            <a:off x="11068050" y="63150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08 / 13</a:t>
            </a:r>
            <a:endParaRPr lang="en-US" sz="1050">
              <a:solidFill>
                <a:srgbClr val="718096"/>
              </a:solidFill>
              <a:latin typeface="Microsoft YaHei"/>
              <a:ea typeface="Microsoft YaHei"/>
            </a:endParaRPr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24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666750" y="381000"/>
            <a:ext cx="12954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A365D"/>
                </a:solidFill>
                <a:latin typeface="Microsoft YaHei"/>
                <a:ea typeface="Microsoft YaHei"/>
              </a:rPr>
              <a:t>品质画像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2095500" y="381000"/>
            <a:ext cx="20288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718096"/>
                </a:solidFill>
                <a:latin typeface="Microsoft YaHei"/>
                <a:ea typeface="Microsoft YaHei"/>
              </a:rPr>
              <a:t>纯数据驱动</a:t>
            </a:r>
            <a:r>
              <a:rPr lang="en-US" sz="1350">
                <a:solidFill>
                  <a:srgbClr val="718096"/>
                </a:solidFill>
                <a:latin typeface="Microsoft YaHei"/>
                <a:ea typeface="Microsoft YaHei"/>
              </a:rPr>
              <a:t> · </a:t>
            </a:r>
            <a:r>
              <a:rPr lang="zh-CN" sz="1350">
                <a:solidFill>
                  <a:srgbClr val="718096"/>
                </a:solidFill>
                <a:latin typeface="Microsoft YaHei"/>
                <a:ea typeface="Microsoft YaHei"/>
              </a:rPr>
              <a:t>可解释可溯源</a:t>
            </a:r>
            <a:endParaRPr/>
          </a:p>
        </p:txBody>
      </p:sp>
      <p:sp>
        <p:nvSpPr>
          <p:cNvPr id="248" name="" descr="{&quot;isTemplate&quot;:true,&quot;type&quot;:&quot;text&quot;}"/>
          <p:cNvSpPr txBox="1"/>
          <p:nvPr/>
        </p:nvSpPr>
        <p:spPr>
          <a:xfrm rot="0" flipH="0" flipV="0">
            <a:off x="666750" y="2600325"/>
            <a:ext cx="55435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1A365D"/>
                </a:solidFill>
                <a:latin typeface="Microsoft YaHei"/>
                <a:ea typeface="Microsoft YaHei"/>
              </a:rPr>
              <a:t>7 </a:t>
            </a:r>
            <a:r>
              <a:rPr lang="zh-CN" sz="1500" b="1">
                <a:solidFill>
                  <a:srgbClr val="1A365D"/>
                </a:solidFill>
                <a:latin typeface="Microsoft YaHei"/>
                <a:ea typeface="Microsoft YaHei"/>
              </a:rPr>
              <a:t>个画像维度（目标</a:t>
            </a:r>
            <a:r>
              <a:rPr lang="en-US" sz="1500" b="1">
                <a:solidFill>
                  <a:srgbClr val="1A365D"/>
                </a:solidFill>
                <a:latin typeface="Microsoft YaHei"/>
                <a:ea typeface="Microsoft YaHei"/>
              </a:rPr>
              <a:t> ≥ 5</a:t>
            </a:r>
            <a:r>
              <a:rPr lang="zh-CN" sz="1500" b="1">
                <a:solidFill>
                  <a:srgbClr val="1A365D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49" name=""/>
          <p:cNvSpPr/>
          <p:nvPr/>
        </p:nvSpPr>
        <p:spPr>
          <a:xfrm rot="0" flipH="0" flipV="0">
            <a:off x="666750" y="3019425"/>
            <a:ext cx="1066800" cy="438150"/>
          </a:xfrm>
          <a:prstGeom prst="roundRect">
            <a:avLst>
              <a:gd name="adj" fmla="val 52174"/>
            </a:avLst>
          </a:prstGeom>
          <a:solidFill>
            <a:srgbClr val="EBF8FF"/>
          </a:solidFill>
          <a:ln w="12700">
            <a:solidFill>
              <a:srgbClr val="BEE3F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857250" y="3133725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2B6CB0"/>
                </a:solidFill>
                <a:latin typeface="Microsoft YaHei"/>
                <a:ea typeface="Microsoft YaHei"/>
              </a:rPr>
              <a:t>费用效率</a:t>
            </a:r>
            <a:endParaRPr/>
          </a:p>
        </p:txBody>
      </p:sp>
      <p:sp>
        <p:nvSpPr>
          <p:cNvPr id="251" name=""/>
          <p:cNvSpPr/>
          <p:nvPr/>
        </p:nvSpPr>
        <p:spPr>
          <a:xfrm rot="0" flipH="0" flipV="0">
            <a:off x="1847850" y="3019425"/>
            <a:ext cx="1409700" cy="438150"/>
          </a:xfrm>
          <a:prstGeom prst="roundRect">
            <a:avLst>
              <a:gd name="adj" fmla="val 52174"/>
            </a:avLst>
          </a:prstGeom>
          <a:solidFill>
            <a:srgbClr val="EBF8FF"/>
          </a:solidFill>
          <a:ln w="12700">
            <a:solidFill>
              <a:srgbClr val="BEE3F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2038350" y="3133725"/>
            <a:ext cx="102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2B6CB0"/>
                </a:solidFill>
                <a:latin typeface="Microsoft YaHei"/>
                <a:ea typeface="Microsoft YaHei"/>
              </a:rPr>
              <a:t>平均住院天数</a:t>
            </a:r>
            <a:endParaRPr/>
          </a:p>
        </p:txBody>
      </p:sp>
      <p:sp>
        <p:nvSpPr>
          <p:cNvPr id="253" name=""/>
          <p:cNvSpPr/>
          <p:nvPr/>
        </p:nvSpPr>
        <p:spPr>
          <a:xfrm rot="0" flipH="0" flipV="0">
            <a:off x="3371850" y="3019425"/>
            <a:ext cx="1066800" cy="438150"/>
          </a:xfrm>
          <a:prstGeom prst="roundRect">
            <a:avLst>
              <a:gd name="adj" fmla="val 52174"/>
            </a:avLst>
          </a:prstGeom>
          <a:solidFill>
            <a:srgbClr val="EBF8FF"/>
          </a:solidFill>
          <a:ln w="12700">
            <a:solidFill>
              <a:srgbClr val="BEE3F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54" name="" descr="{&quot;isTemplate&quot;:true,&quot;type&quot;:&quot;text&quot;}"/>
          <p:cNvSpPr txBox="1"/>
          <p:nvPr/>
        </p:nvSpPr>
        <p:spPr>
          <a:xfrm rot="0" flipH="0" flipV="0">
            <a:off x="3562350" y="3133725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2B6CB0"/>
                </a:solidFill>
                <a:latin typeface="Microsoft YaHei"/>
                <a:ea typeface="Microsoft YaHei"/>
              </a:rPr>
              <a:t>自费比例</a:t>
            </a:r>
            <a:endParaRPr/>
          </a:p>
        </p:txBody>
      </p:sp>
      <p:sp>
        <p:nvSpPr>
          <p:cNvPr id="255" name=""/>
          <p:cNvSpPr/>
          <p:nvPr/>
        </p:nvSpPr>
        <p:spPr>
          <a:xfrm rot="0" flipH="0" flipV="0">
            <a:off x="4552950" y="3019425"/>
            <a:ext cx="1238250" cy="438150"/>
          </a:xfrm>
          <a:prstGeom prst="roundRect">
            <a:avLst>
              <a:gd name="adj" fmla="val 52174"/>
            </a:avLst>
          </a:prstGeom>
          <a:solidFill>
            <a:srgbClr val="EBF8FF"/>
          </a:solidFill>
          <a:ln w="12700">
            <a:solidFill>
              <a:srgbClr val="BEE3F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4743450" y="3133725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2B6CB0"/>
                </a:solidFill>
                <a:latin typeface="Microsoft YaHei"/>
                <a:ea typeface="Microsoft YaHei"/>
              </a:rPr>
              <a:t>用药合理性</a:t>
            </a:r>
            <a:endParaRPr/>
          </a:p>
        </p:txBody>
      </p:sp>
      <p:sp>
        <p:nvSpPr>
          <p:cNvPr id="257" name=""/>
          <p:cNvSpPr/>
          <p:nvPr/>
        </p:nvSpPr>
        <p:spPr>
          <a:xfrm rot="0" flipH="0" flipV="0">
            <a:off x="666750" y="3571875"/>
            <a:ext cx="1238250" cy="438150"/>
          </a:xfrm>
          <a:prstGeom prst="roundRect">
            <a:avLst>
              <a:gd name="adj" fmla="val 52174"/>
            </a:avLst>
          </a:prstGeom>
          <a:solidFill>
            <a:srgbClr val="EBF8FF"/>
          </a:solidFill>
          <a:ln w="12700">
            <a:solidFill>
              <a:srgbClr val="BEE3F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58" name="" descr="{&quot;isTemplate&quot;:true,&quot;type&quot;:&quot;text&quot;}"/>
          <p:cNvSpPr txBox="1"/>
          <p:nvPr/>
        </p:nvSpPr>
        <p:spPr>
          <a:xfrm rot="0" flipH="0" flipV="0">
            <a:off x="857250" y="3686175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2B6CB0"/>
                </a:solidFill>
                <a:latin typeface="Microsoft YaHei"/>
                <a:ea typeface="Microsoft YaHei"/>
              </a:rPr>
              <a:t>治疗规范性</a:t>
            </a:r>
            <a:endParaRPr/>
          </a:p>
        </p:txBody>
      </p:sp>
      <p:sp>
        <p:nvSpPr>
          <p:cNvPr id="259" name=""/>
          <p:cNvSpPr/>
          <p:nvPr/>
        </p:nvSpPr>
        <p:spPr>
          <a:xfrm rot="0" flipH="0" flipV="0">
            <a:off x="2019300" y="3571875"/>
            <a:ext cx="1066800" cy="438150"/>
          </a:xfrm>
          <a:prstGeom prst="roundRect">
            <a:avLst>
              <a:gd name="adj" fmla="val 52174"/>
            </a:avLst>
          </a:prstGeom>
          <a:solidFill>
            <a:srgbClr val="EBF8FF"/>
          </a:solidFill>
          <a:ln w="12700">
            <a:solidFill>
              <a:srgbClr val="BEE3F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2209800" y="3686175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2B6CB0"/>
                </a:solidFill>
                <a:latin typeface="Microsoft YaHei"/>
                <a:ea typeface="Microsoft YaHei"/>
              </a:rPr>
              <a:t>再入院率</a:t>
            </a:r>
            <a:endParaRPr/>
          </a:p>
        </p:txBody>
      </p:sp>
      <p:sp>
        <p:nvSpPr>
          <p:cNvPr id="261" name=""/>
          <p:cNvSpPr/>
          <p:nvPr/>
        </p:nvSpPr>
        <p:spPr>
          <a:xfrm rot="0" flipH="0" flipV="0">
            <a:off x="3200400" y="3571875"/>
            <a:ext cx="1238250" cy="438150"/>
          </a:xfrm>
          <a:prstGeom prst="roundRect">
            <a:avLst>
              <a:gd name="adj" fmla="val 52174"/>
            </a:avLst>
          </a:prstGeom>
          <a:solidFill>
            <a:srgbClr val="EBF8FF"/>
          </a:solidFill>
          <a:ln w="12700">
            <a:solidFill>
              <a:srgbClr val="BEE3F8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62" name="" descr="{&quot;isTemplate&quot;:true,&quot;type&quot;:&quot;text&quot;}"/>
          <p:cNvSpPr txBox="1"/>
          <p:nvPr/>
        </p:nvSpPr>
        <p:spPr>
          <a:xfrm rot="0" flipH="0" flipV="0">
            <a:off x="3390900" y="3686175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2B6CB0"/>
                </a:solidFill>
                <a:latin typeface="Microsoft YaHei"/>
                <a:ea typeface="Microsoft YaHei"/>
              </a:rPr>
              <a:t>患者满意度</a:t>
            </a:r>
            <a:endParaRPr/>
          </a:p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666750" y="4238625"/>
            <a:ext cx="5543550" cy="333375"/>
          </a:xfrm>
          <a:prstGeom prst="rect"/>
        </p:spPr>
        <p:txBody>
          <a:bodyPr wrap="none" lIns="0" tIns="0" rIns="0" bIns="0"/>
          <a:p>
            <a:pPr>
              <a:lnSpc>
                <a:spcPct val="160000"/>
              </a:lnSpc>
            </a:pP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覆盖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62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病种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× 79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机构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，远超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"≥3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病种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 × ≥5 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机构</a:t>
            </a:r>
            <a:r>
              <a:rPr lang="en-US" sz="1350">
                <a:solidFill>
                  <a:srgbClr val="4A5568"/>
                </a:solidFill>
                <a:latin typeface="Microsoft YaHei"/>
                <a:ea typeface="Microsoft YaHei"/>
              </a:rPr>
              <a:t>"</a:t>
            </a:r>
            <a:r>
              <a:rPr lang="zh-CN" sz="1350">
                <a:solidFill>
                  <a:srgbClr val="4A5568"/>
                </a:solidFill>
                <a:latin typeface="Microsoft YaHei"/>
                <a:ea typeface="Microsoft YaHei"/>
              </a:rPr>
              <a:t>要求。</a:t>
            </a:r>
            <a:endParaRPr/>
          </a:p>
        </p:txBody>
      </p:sp>
      <p:sp>
        <p:nvSpPr>
          <p:cNvPr id="264" name=""/>
          <p:cNvSpPr/>
          <p:nvPr/>
        </p:nvSpPr>
        <p:spPr>
          <a:xfrm rot="0" flipH="0" flipV="0">
            <a:off x="6477000" y="1076325"/>
            <a:ext cx="5048250" cy="5010150"/>
          </a:xfrm>
          <a:prstGeom prst="roundRect">
            <a:avLst>
              <a:gd name="adj" fmla="val 3042"/>
            </a:avLst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65" name="" descr="{&quot;isTemplate&quot;:true,&quot;type&quot;:&quot;text&quot;}"/>
          <p:cNvSpPr txBox="1"/>
          <p:nvPr/>
        </p:nvSpPr>
        <p:spPr>
          <a:xfrm rot="0" flipH="0" flipV="0">
            <a:off x="6781800" y="2362200"/>
            <a:ext cx="44386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365D"/>
                </a:solidFill>
                <a:latin typeface="Microsoft YaHei"/>
                <a:ea typeface="Microsoft YaHei"/>
              </a:rPr>
              <a:t>每条推荐</a:t>
            </a:r>
            <a:r>
              <a:rPr lang="en-US" sz="1500" b="1">
                <a:solidFill>
                  <a:srgbClr val="1A365D"/>
                </a:solidFill>
                <a:latin typeface="Microsoft YaHei"/>
                <a:ea typeface="Microsoft YaHei"/>
              </a:rPr>
              <a:t> 2~6 </a:t>
            </a:r>
            <a:r>
              <a:rPr lang="zh-CN" sz="1500" b="1">
                <a:solidFill>
                  <a:srgbClr val="1A365D"/>
                </a:solidFill>
                <a:latin typeface="Microsoft YaHei"/>
                <a:ea typeface="Microsoft YaHei"/>
              </a:rPr>
              <a:t>条量化理由</a:t>
            </a:r>
            <a:endParaRPr/>
          </a:p>
        </p:txBody>
      </p:sp>
      <p:sp>
        <p:nvSpPr>
          <p:cNvPr id="266" name=""/>
          <p:cNvSpPr/>
          <p:nvPr/>
        </p:nvSpPr>
        <p:spPr>
          <a:xfrm rot="0" flipH="0" flipV="0">
            <a:off x="6781800" y="2743200"/>
            <a:ext cx="4438650" cy="971550"/>
          </a:xfrm>
          <a:prstGeom prst="roundRect">
            <a:avLst>
              <a:gd name="adj" fmla="val 9804"/>
            </a:avLst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6972300" y="2895600"/>
            <a:ext cx="4057650" cy="6667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·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费用效率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 2384.32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元，比该病种均值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 2935.32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元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低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 19%</a:t>
            </a:r>
            <a:endParaRPr/>
          </a:p>
        </p:txBody>
      </p:sp>
      <p:sp>
        <p:nvSpPr>
          <p:cNvPr id="268" name=""/>
          <p:cNvSpPr/>
          <p:nvPr/>
        </p:nvSpPr>
        <p:spPr>
          <a:xfrm rot="0" flipH="0" flipV="0">
            <a:off x="6781800" y="3829050"/>
            <a:ext cx="4438650" cy="638175"/>
          </a:xfrm>
          <a:prstGeom prst="roundRect">
            <a:avLst>
              <a:gd name="adj" fmla="val 14925"/>
            </a:avLst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69" name="" descr="{&quot;isTemplate&quot;:true,&quot;type&quot;:&quot;text&quot;}"/>
          <p:cNvSpPr txBox="1"/>
          <p:nvPr/>
        </p:nvSpPr>
        <p:spPr>
          <a:xfrm rot="0" flipH="0" flipV="0">
            <a:off x="6972300" y="3981450"/>
            <a:ext cx="4057650" cy="3333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·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自费比例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 5.07%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，比该病种均值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 10.60% </a:t>
            </a:r>
            <a:r>
              <a:rPr lang="zh-CN" sz="1275">
                <a:solidFill>
                  <a:srgbClr val="4A5568"/>
                </a:solidFill>
                <a:latin typeface="Microsoft YaHei"/>
                <a:ea typeface="Microsoft YaHei"/>
              </a:rPr>
              <a:t>低</a:t>
            </a:r>
            <a:r>
              <a:rPr lang="en-US" sz="1275">
                <a:solidFill>
                  <a:srgbClr val="4A5568"/>
                </a:solidFill>
                <a:latin typeface="Microsoft YaHei"/>
                <a:ea typeface="Microsoft YaHei"/>
              </a:rPr>
              <a:t> 52%</a:t>
            </a:r>
            <a:endParaRPr/>
          </a:p>
        </p:txBody>
      </p:sp>
      <p:sp>
        <p:nvSpPr>
          <p:cNvPr id="270" name="" descr="{&quot;isTemplate&quot;:true,&quot;type&quot;:&quot;text&quot;}"/>
          <p:cNvSpPr txBox="1"/>
          <p:nvPr/>
        </p:nvSpPr>
        <p:spPr>
          <a:xfrm rot="0" flipH="0" flipV="0">
            <a:off x="6781800" y="4619625"/>
            <a:ext cx="4438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i="1">
                <a:solidFill>
                  <a:srgbClr val="718096"/>
                </a:solidFill>
                <a:latin typeface="Microsoft YaHei"/>
                <a:ea typeface="Microsoft YaHei"/>
              </a:rPr>
              <a:t>每条理由都溯源到数据字段，不靠</a:t>
            </a:r>
            <a:r>
              <a:rPr lang="en-US" sz="1200" i="1">
                <a:solidFill>
                  <a:srgbClr val="718096"/>
                </a:solidFill>
                <a:latin typeface="Microsoft YaHei"/>
                <a:ea typeface="Microsoft YaHei"/>
              </a:rPr>
              <a:t> LLM </a:t>
            </a:r>
            <a:r>
              <a:rPr lang="zh-CN" sz="1200" i="1">
                <a:solidFill>
                  <a:srgbClr val="718096"/>
                </a:solidFill>
                <a:latin typeface="Microsoft YaHei"/>
                <a:ea typeface="Microsoft YaHei"/>
              </a:rPr>
              <a:t>自由发挥。</a:t>
            </a:r>
            <a:endParaRPr/>
          </a:p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666750" y="6315075"/>
            <a:ext cx="1466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医护洞察与温度指引引擎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11068050" y="63150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09 / 13</a:t>
            </a:r>
            <a:endParaRPr lang="en-US" sz="1050">
              <a:solidFill>
                <a:srgbClr val="718096"/>
              </a:solidFill>
              <a:latin typeface="Microsoft YaHei"/>
              <a:ea typeface="Microsoft YaHei"/>
            </a:endParaRPr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>
  <p:cSld>
    <p:spTree>
      <p:nvGrpSpPr>
        <p:cNvPr id="16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2B6CB0"/>
              </a:gs>
              <a:gs pos="100000">
                <a:srgbClr val="38B2AC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5124450" y="2609850"/>
            <a:ext cx="1952625" cy="2762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800" spc="4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CHAPTER 03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4667250" y="3114675"/>
            <a:ext cx="2857500" cy="685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4500" b="1">
                <a:solidFill>
                  <a:srgbClr val="FFFFFF"/>
                </a:solidFill>
                <a:latin typeface="Microsoft YaHei"/>
                <a:ea typeface="Microsoft YaHei"/>
              </a:rPr>
              <a:t>落地与合规</a:t>
            </a:r>
            <a:endParaRPr/>
          </a:p>
        </p:txBody>
      </p:sp>
      <p:sp>
        <p:nvSpPr>
          <p:cNvPr id="20" name="" descr="{&quot;isTemplate&quot;:true,&quot;type&quot;:&quot;text&quot;}"/>
          <p:cNvSpPr txBox="1"/>
          <p:nvPr/>
        </p:nvSpPr>
        <p:spPr>
          <a:xfrm rot="0" flipH="0" flipV="0">
            <a:off x="4333875" y="3990975"/>
            <a:ext cx="3533775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FFFFFF">
                    <a:alpha val="90000"/>
                  </a:srgbClr>
                </a:solidFill>
                <a:latin typeface="Microsoft YaHei"/>
                <a:ea typeface="Microsoft YaHei"/>
              </a:rPr>
              <a:t>温度指引如何触达患者</a:t>
            </a:r>
            <a:r>
              <a:rPr lang="en-US" sz="1650">
                <a:solidFill>
                  <a:srgbClr val="FFFFFF">
                    <a:alpha val="90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1650">
                <a:solidFill>
                  <a:srgbClr val="FFFFFF">
                    <a:alpha val="90000"/>
                  </a:srgbClr>
                </a:solidFill>
                <a:latin typeface="Microsoft YaHei"/>
                <a:ea typeface="Microsoft YaHei"/>
              </a:rPr>
              <a:t>如何安全落地</a:t>
            </a:r>
            <a:endParaRPr/>
          </a:p>
        </p:txBody>
      </p:sp>
      <p:sp>
        <p:nvSpPr>
          <p:cNvPr id="21" name=""/>
          <p:cNvSpPr/>
          <p:nvPr/>
        </p:nvSpPr>
        <p:spPr>
          <a:xfrm rot="0" flipH="0" flipV="0">
            <a:off x="8191500" y="762000"/>
            <a:ext cx="3048000" cy="3048000"/>
          </a:xfrm>
          <a:custGeom>
            <a:pathLst>
              <a:path w="320" h="320">
                <a:moveTo>
                  <a:pt x="160" y="0"/>
                </a:moveTo>
                <a:lnTo>
                  <a:pt x="160" y="0"/>
                </a:lnTo>
                <a:cubicBezTo>
                  <a:pt x="248" y="0"/>
                  <a:pt x="320" y="72"/>
                  <a:pt x="320" y="160"/>
                </a:cubicBezTo>
                <a:lnTo>
                  <a:pt x="320" y="160"/>
                </a:lnTo>
                <a:cubicBezTo>
                  <a:pt x="320" y="248"/>
                  <a:pt x="248" y="320"/>
                  <a:pt x="160" y="320"/>
                </a:cubicBezTo>
                <a:lnTo>
                  <a:pt x="160" y="320"/>
                </a:lnTo>
                <a:cubicBezTo>
                  <a:pt x="72" y="320"/>
                  <a:pt x="0" y="248"/>
                  <a:pt x="0" y="160"/>
                </a:cubicBezTo>
                <a:lnTo>
                  <a:pt x="0" y="160"/>
                </a:lnTo>
                <a:cubicBezTo>
                  <a:pt x="0" y="72"/>
                  <a:pt x="72" y="0"/>
                  <a:pt x="160" y="0"/>
                </a:cubicBezTo>
                <a:close/>
              </a:path>
            </a:pathLst>
          </a:custGeom>
          <a:solidFill>
            <a:srgbClr val="FFFFFF">
              <a:alpha val="10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22" name=""/>
          <p:cNvSpPr/>
          <p:nvPr/>
        </p:nvSpPr>
        <p:spPr>
          <a:xfrm rot="0" flipH="0" flipV="0">
            <a:off x="762000" y="3810000"/>
            <a:ext cx="2476500" cy="2476500"/>
          </a:xfrm>
          <a:custGeom>
            <a:pathLst>
              <a:path w="260" h="260">
                <a:moveTo>
                  <a:pt x="130" y="0"/>
                </a:moveTo>
                <a:lnTo>
                  <a:pt x="130" y="0"/>
                </a:lnTo>
                <a:cubicBezTo>
                  <a:pt x="202" y="0"/>
                  <a:pt x="260" y="58"/>
                  <a:pt x="260" y="130"/>
                </a:cubicBezTo>
                <a:lnTo>
                  <a:pt x="260" y="130"/>
                </a:lnTo>
                <a:cubicBezTo>
                  <a:pt x="260" y="202"/>
                  <a:pt x="202" y="260"/>
                  <a:pt x="130" y="260"/>
                </a:cubicBezTo>
                <a:lnTo>
                  <a:pt x="130" y="260"/>
                </a:lnTo>
                <a:cubicBezTo>
                  <a:pt x="58" y="260"/>
                  <a:pt x="0" y="202"/>
                  <a:pt x="0" y="130"/>
                </a:cubicBezTo>
                <a:lnTo>
                  <a:pt x="0" y="130"/>
                </a:lnTo>
                <a:cubicBezTo>
                  <a:pt x="0" y="58"/>
                  <a:pt x="58" y="0"/>
                  <a:pt x="130" y="0"/>
                </a:cubicBezTo>
                <a:close/>
              </a:path>
            </a:pathLst>
          </a:custGeom>
          <a:solidFill>
            <a:srgbClr val="FFFFFF">
              <a:alpha val="8000"/>
            </a:srgbClr>
          </a:solidFill>
          <a:ln/>
        </p:spPr>
        <p:txBody>
          <a:bodyPr/>
          <a:p>
            <a:pPr/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23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666750" y="381000"/>
            <a:ext cx="22669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A365D"/>
                </a:solidFill>
                <a:latin typeface="Microsoft YaHei"/>
                <a:ea typeface="Microsoft YaHei"/>
              </a:rPr>
              <a:t>触达闭环与合规</a:t>
            </a:r>
            <a:endParaRPr/>
          </a:p>
        </p:txBody>
      </p:sp>
      <p:sp>
        <p:nvSpPr>
          <p:cNvPr id="26" name="" descr="{&quot;isTemplate&quot;:true,&quot;type&quot;:&quot;text&quot;}"/>
          <p:cNvSpPr txBox="1"/>
          <p:nvPr/>
        </p:nvSpPr>
        <p:spPr>
          <a:xfrm rot="0" flipH="0" flipV="0">
            <a:off x="3067050" y="381000"/>
            <a:ext cx="17145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718096"/>
                </a:solidFill>
                <a:latin typeface="Microsoft YaHei"/>
                <a:ea typeface="Microsoft YaHei"/>
              </a:rPr>
              <a:t>从技术能力到实际价值</a:t>
            </a:r>
            <a:endParaRPr/>
          </a:p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666750" y="2028825"/>
            <a:ext cx="58293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A365D"/>
                </a:solidFill>
                <a:latin typeface="Microsoft YaHei"/>
                <a:ea typeface="Microsoft YaHei"/>
              </a:rPr>
              <a:t>三条触达路径</a:t>
            </a:r>
            <a:endParaRPr/>
          </a:p>
        </p:txBody>
      </p:sp>
      <p:sp>
        <p:nvSpPr>
          <p:cNvPr id="28" name=""/>
          <p:cNvSpPr/>
          <p:nvPr/>
        </p:nvSpPr>
        <p:spPr>
          <a:xfrm rot="0" flipH="0" flipV="0">
            <a:off x="666750" y="2447925"/>
            <a:ext cx="5829300" cy="666750"/>
          </a:xfrm>
          <a:prstGeom prst="roundRect">
            <a:avLst>
              <a:gd name="adj" fmla="val 14286"/>
            </a:avLst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29" name=""/>
          <p:cNvSpPr/>
          <p:nvPr/>
        </p:nvSpPr>
        <p:spPr>
          <a:xfrm rot="0" flipH="0" flipV="0">
            <a:off x="857250" y="2647950"/>
            <a:ext cx="266700" cy="266700"/>
          </a:xfrm>
          <a:custGeom>
            <a:pathLst>
              <a:path w="28" h="28">
                <a:moveTo>
                  <a:pt x="14" y="0"/>
                </a:moveTo>
                <a:lnTo>
                  <a:pt x="14" y="0"/>
                </a:lnTo>
                <a:cubicBezTo>
                  <a:pt x="22" y="0"/>
                  <a:pt x="28" y="6"/>
                  <a:pt x="28" y="14"/>
                </a:cubicBezTo>
                <a:lnTo>
                  <a:pt x="28" y="14"/>
                </a:lnTo>
                <a:cubicBezTo>
                  <a:pt x="28" y="22"/>
                  <a:pt x="22" y="28"/>
                  <a:pt x="14" y="28"/>
                </a:cubicBezTo>
                <a:lnTo>
                  <a:pt x="14" y="28"/>
                </a:lnTo>
                <a:cubicBezTo>
                  <a:pt x="6" y="28"/>
                  <a:pt x="0" y="22"/>
                  <a:pt x="0" y="14"/>
                </a:cubicBezTo>
                <a:lnTo>
                  <a:pt x="0" y="14"/>
                </a:lnTo>
                <a:cubicBezTo>
                  <a:pt x="0" y="6"/>
                  <a:pt x="6" y="0"/>
                  <a:pt x="14" y="0"/>
                </a:cubicBezTo>
                <a:close/>
              </a:path>
            </a:pathLst>
          </a:custGeom>
          <a:solidFill>
            <a:srgbClr val="2B6CB0"/>
          </a:solidFill>
          <a:ln/>
        </p:spPr>
        <p:txBody>
          <a:bodyPr/>
          <a:p>
            <a:pPr/>
            <a:endParaRPr/>
          </a:p>
        </p:txBody>
      </p:sp>
      <p:sp>
        <p:nvSpPr>
          <p:cNvPr id="30" name="" descr="{&quot;isTemplate&quot;:true,&quot;type&quot;:&quot;text&quot;}"/>
          <p:cNvSpPr txBox="1"/>
          <p:nvPr/>
        </p:nvSpPr>
        <p:spPr>
          <a:xfrm rot="0" flipH="0" flipV="0">
            <a:off x="952500" y="2705100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31" name="" descr="{&quot;isTemplate&quot;:true,&quot;type&quot;:&quot;text&quot;}"/>
          <p:cNvSpPr txBox="1"/>
          <p:nvPr/>
        </p:nvSpPr>
        <p:spPr>
          <a:xfrm rot="0" flipH="0" flipV="0">
            <a:off x="1257300" y="2581275"/>
            <a:ext cx="24193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365D"/>
                </a:solidFill>
                <a:latin typeface="Microsoft YaHei"/>
                <a:ea typeface="Microsoft YaHei"/>
              </a:rPr>
              <a:t>结案即时触达</a:t>
            </a:r>
            <a:endParaRPr/>
          </a:p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1257300" y="2790825"/>
            <a:ext cx="2419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718096"/>
                </a:solidFill>
                <a:latin typeface="Microsoft YaHei"/>
                <a:ea typeface="Microsoft YaHei"/>
              </a:rPr>
              <a:t>理赔结案通知里附带</a:t>
            </a:r>
            <a:r>
              <a:rPr lang="en-US" sz="1200">
                <a:solidFill>
                  <a:srgbClr val="718096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718096"/>
                </a:solidFill>
                <a:latin typeface="Microsoft YaHei"/>
                <a:ea typeface="Microsoft YaHei"/>
              </a:rPr>
              <a:t>就医复盘指引</a:t>
            </a:r>
            <a:r>
              <a:rPr lang="en-US" sz="1200">
                <a:solidFill>
                  <a:srgbClr val="718096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33" name=""/>
          <p:cNvSpPr/>
          <p:nvPr/>
        </p:nvSpPr>
        <p:spPr>
          <a:xfrm rot="0" flipH="0" flipV="0">
            <a:off x="666750" y="3267075"/>
            <a:ext cx="5829300" cy="666750"/>
          </a:xfrm>
          <a:prstGeom prst="roundRect">
            <a:avLst>
              <a:gd name="adj" fmla="val 14286"/>
            </a:avLst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4" name=""/>
          <p:cNvSpPr/>
          <p:nvPr/>
        </p:nvSpPr>
        <p:spPr>
          <a:xfrm rot="0" flipH="0" flipV="0">
            <a:off x="857250" y="3467100"/>
            <a:ext cx="266700" cy="266700"/>
          </a:xfrm>
          <a:custGeom>
            <a:pathLst>
              <a:path w="28" h="28">
                <a:moveTo>
                  <a:pt x="14" y="0"/>
                </a:moveTo>
                <a:lnTo>
                  <a:pt x="14" y="0"/>
                </a:lnTo>
                <a:cubicBezTo>
                  <a:pt x="22" y="0"/>
                  <a:pt x="28" y="6"/>
                  <a:pt x="28" y="14"/>
                </a:cubicBezTo>
                <a:lnTo>
                  <a:pt x="28" y="14"/>
                </a:lnTo>
                <a:cubicBezTo>
                  <a:pt x="28" y="22"/>
                  <a:pt x="22" y="28"/>
                  <a:pt x="14" y="28"/>
                </a:cubicBezTo>
                <a:lnTo>
                  <a:pt x="14" y="28"/>
                </a:lnTo>
                <a:cubicBezTo>
                  <a:pt x="6" y="28"/>
                  <a:pt x="0" y="22"/>
                  <a:pt x="0" y="14"/>
                </a:cubicBezTo>
                <a:lnTo>
                  <a:pt x="0" y="14"/>
                </a:lnTo>
                <a:cubicBezTo>
                  <a:pt x="0" y="6"/>
                  <a:pt x="6" y="0"/>
                  <a:pt x="14" y="0"/>
                </a:cubicBezTo>
                <a:close/>
              </a:path>
            </a:pathLst>
          </a:custGeom>
          <a:solidFill>
            <a:srgbClr val="2B6CB0"/>
          </a:solidFill>
          <a:ln/>
        </p:spPr>
        <p:txBody>
          <a:bodyPr/>
          <a:p>
            <a:pPr/>
            <a:endParaRPr/>
          </a:p>
        </p:txBody>
      </p:sp>
      <p:sp>
        <p:nvSpPr>
          <p:cNvPr id="35" name="" descr="{&quot;isTemplate&quot;:true,&quot;type&quot;:&quot;text&quot;}"/>
          <p:cNvSpPr txBox="1"/>
          <p:nvPr/>
        </p:nvSpPr>
        <p:spPr>
          <a:xfrm rot="0" flipH="0" flipV="0">
            <a:off x="952500" y="3524250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36" name="" descr="{&quot;isTemplate&quot;:true,&quot;type&quot;:&quot;text&quot;}"/>
          <p:cNvSpPr txBox="1"/>
          <p:nvPr/>
        </p:nvSpPr>
        <p:spPr>
          <a:xfrm rot="0" flipH="0" flipV="0">
            <a:off x="1257300" y="3400425"/>
            <a:ext cx="19812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1A365D"/>
                </a:solidFill>
                <a:latin typeface="Microsoft YaHei"/>
                <a:ea typeface="Microsoft YaHei"/>
              </a:rPr>
              <a:t>主动关怀外呼</a:t>
            </a:r>
            <a:r>
              <a:rPr lang="en-US" sz="1350" b="1">
                <a:solidFill>
                  <a:srgbClr val="1A365D"/>
                </a:solidFill>
                <a:latin typeface="Microsoft YaHei"/>
                <a:ea typeface="Microsoft YaHei"/>
              </a:rPr>
              <a:t>/</a:t>
            </a:r>
            <a:r>
              <a:rPr lang="zh-CN" sz="1350" b="1">
                <a:solidFill>
                  <a:srgbClr val="1A365D"/>
                </a:solidFill>
                <a:latin typeface="Microsoft YaHei"/>
                <a:ea typeface="Microsoft YaHei"/>
              </a:rPr>
              <a:t>企微</a:t>
            </a:r>
            <a:endParaRPr/>
          </a:p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1257300" y="3609975"/>
            <a:ext cx="1981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718096"/>
                </a:solidFill>
                <a:latin typeface="Microsoft YaHei"/>
                <a:ea typeface="Microsoft YaHei"/>
              </a:rPr>
              <a:t>针对高风险痛点患者主动回访</a:t>
            </a:r>
            <a:endParaRPr/>
          </a:p>
        </p:txBody>
      </p:sp>
      <p:sp>
        <p:nvSpPr>
          <p:cNvPr id="38" name=""/>
          <p:cNvSpPr/>
          <p:nvPr/>
        </p:nvSpPr>
        <p:spPr>
          <a:xfrm rot="0" flipH="0" flipV="0">
            <a:off x="666750" y="4086225"/>
            <a:ext cx="5829300" cy="666750"/>
          </a:xfrm>
          <a:prstGeom prst="roundRect">
            <a:avLst>
              <a:gd name="adj" fmla="val 14286"/>
            </a:avLst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39" name=""/>
          <p:cNvSpPr/>
          <p:nvPr/>
        </p:nvSpPr>
        <p:spPr>
          <a:xfrm rot="0" flipH="0" flipV="0">
            <a:off x="857250" y="4286250"/>
            <a:ext cx="266700" cy="266700"/>
          </a:xfrm>
          <a:custGeom>
            <a:pathLst>
              <a:path w="28" h="28">
                <a:moveTo>
                  <a:pt x="14" y="0"/>
                </a:moveTo>
                <a:lnTo>
                  <a:pt x="14" y="0"/>
                </a:lnTo>
                <a:cubicBezTo>
                  <a:pt x="22" y="0"/>
                  <a:pt x="28" y="6"/>
                  <a:pt x="28" y="14"/>
                </a:cubicBezTo>
                <a:lnTo>
                  <a:pt x="28" y="14"/>
                </a:lnTo>
                <a:cubicBezTo>
                  <a:pt x="28" y="22"/>
                  <a:pt x="22" y="28"/>
                  <a:pt x="14" y="28"/>
                </a:cubicBezTo>
                <a:lnTo>
                  <a:pt x="14" y="28"/>
                </a:lnTo>
                <a:cubicBezTo>
                  <a:pt x="6" y="28"/>
                  <a:pt x="0" y="22"/>
                  <a:pt x="0" y="14"/>
                </a:cubicBezTo>
                <a:lnTo>
                  <a:pt x="0" y="14"/>
                </a:lnTo>
                <a:cubicBezTo>
                  <a:pt x="0" y="6"/>
                  <a:pt x="6" y="0"/>
                  <a:pt x="14" y="0"/>
                </a:cubicBezTo>
                <a:close/>
              </a:path>
            </a:pathLst>
          </a:custGeom>
          <a:solidFill>
            <a:srgbClr val="2B6CB0"/>
          </a:solidFill>
          <a:ln/>
        </p:spPr>
        <p:txBody>
          <a:bodyPr/>
          <a:p>
            <a:pPr/>
            <a:endParaRPr/>
          </a:p>
        </p:txBody>
      </p:sp>
      <p:sp>
        <p:nvSpPr>
          <p:cNvPr id="40" name="" descr="{&quot;isTemplate&quot;:true,&quot;type&quot;:&quot;text&quot;}"/>
          <p:cNvSpPr txBox="1"/>
          <p:nvPr/>
        </p:nvSpPr>
        <p:spPr>
          <a:xfrm rot="0" flipH="0" flipV="0">
            <a:off x="952500" y="4343400"/>
            <a:ext cx="85725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1257300" y="4219575"/>
            <a:ext cx="16478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350" b="1">
                <a:solidFill>
                  <a:srgbClr val="1A365D"/>
                </a:solidFill>
                <a:latin typeface="Microsoft YaHei"/>
                <a:ea typeface="Microsoft YaHei"/>
              </a:rPr>
              <a:t>App/</a:t>
            </a:r>
            <a:r>
              <a:rPr lang="zh-CN" sz="1350" b="1">
                <a:solidFill>
                  <a:srgbClr val="1A365D"/>
                </a:solidFill>
                <a:latin typeface="Microsoft YaHei"/>
                <a:ea typeface="Microsoft YaHei"/>
              </a:rPr>
              <a:t>小程序自助查看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1257300" y="4429125"/>
            <a:ext cx="1647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718096"/>
                </a:solidFill>
                <a:latin typeface="Microsoft YaHei"/>
                <a:ea typeface="Microsoft YaHei"/>
              </a:rPr>
              <a:t>长期健康档案沉淀</a:t>
            </a:r>
            <a:endParaRPr/>
          </a:p>
        </p:txBody>
      </p:sp>
      <p:sp>
        <p:nvSpPr>
          <p:cNvPr id="43" name="" descr="{&quot;isTemplate&quot;:true,&quot;type&quot;:&quot;text&quot;}"/>
          <p:cNvSpPr txBox="1"/>
          <p:nvPr/>
        </p:nvSpPr>
        <p:spPr>
          <a:xfrm rot="0" flipH="0" flipV="0">
            <a:off x="666750" y="4943475"/>
            <a:ext cx="58293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i="1">
                <a:solidFill>
                  <a:srgbClr val="2C7A7B"/>
                </a:solidFill>
                <a:latin typeface="Microsoft YaHei"/>
                <a:ea typeface="Microsoft YaHei"/>
              </a:rPr>
              <a:t>反馈闭环：采纳率</a:t>
            </a:r>
            <a:r>
              <a:rPr lang="en-US" sz="1200" i="1">
                <a:solidFill>
                  <a:srgbClr val="2C7A7B"/>
                </a:solidFill>
                <a:latin typeface="Microsoft YaHei"/>
                <a:ea typeface="Microsoft YaHei"/>
              </a:rPr>
              <a:t> → </a:t>
            </a:r>
            <a:r>
              <a:rPr lang="zh-CN" sz="1200" i="1">
                <a:solidFill>
                  <a:srgbClr val="2C7A7B"/>
                </a:solidFill>
                <a:latin typeface="Microsoft YaHei"/>
                <a:ea typeface="Microsoft YaHei"/>
              </a:rPr>
              <a:t>标注</a:t>
            </a:r>
            <a:r>
              <a:rPr lang="en-US" sz="1200" i="1">
                <a:solidFill>
                  <a:srgbClr val="2C7A7B"/>
                </a:solidFill>
                <a:latin typeface="Microsoft YaHei"/>
                <a:ea typeface="Microsoft YaHei"/>
              </a:rPr>
              <a:t> → prompt/</a:t>
            </a:r>
            <a:r>
              <a:rPr lang="zh-CN" sz="1200" i="1">
                <a:solidFill>
                  <a:srgbClr val="2C7A7B"/>
                </a:solidFill>
                <a:latin typeface="Microsoft YaHei"/>
                <a:ea typeface="Microsoft YaHei"/>
              </a:rPr>
              <a:t>规则迭代</a:t>
            </a:r>
            <a:r>
              <a:rPr lang="en-US" sz="1200" i="1">
                <a:solidFill>
                  <a:srgbClr val="2C7A7B"/>
                </a:solidFill>
                <a:latin typeface="Microsoft YaHei"/>
                <a:ea typeface="Microsoft YaHei"/>
              </a:rPr>
              <a:t> → </a:t>
            </a:r>
            <a:r>
              <a:rPr lang="zh-CN" sz="1200" i="1">
                <a:solidFill>
                  <a:srgbClr val="2C7A7B"/>
                </a:solidFill>
                <a:latin typeface="Microsoft YaHei"/>
                <a:ea typeface="Microsoft YaHei"/>
              </a:rPr>
              <a:t>再输出</a:t>
            </a:r>
            <a:endParaRPr/>
          </a:p>
        </p:txBody>
      </p:sp>
      <p:sp>
        <p:nvSpPr>
          <p:cNvPr id="44" name=""/>
          <p:cNvSpPr/>
          <p:nvPr/>
        </p:nvSpPr>
        <p:spPr>
          <a:xfrm rot="0" flipH="0" flipV="0">
            <a:off x="6762750" y="1076325"/>
            <a:ext cx="4762500" cy="5010150"/>
          </a:xfrm>
          <a:prstGeom prst="roundRect">
            <a:avLst>
              <a:gd name="adj" fmla="val 3200"/>
            </a:avLst>
          </a:prstGeom>
          <a:gradFill>
            <a:gsLst>
              <a:gs pos="0">
                <a:srgbClr val="1A365D"/>
              </a:gs>
              <a:gs pos="100000">
                <a:srgbClr val="2B6CB0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7067550" y="2514600"/>
            <a:ext cx="415290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7FD1CD"/>
                </a:solidFill>
                <a:latin typeface="Microsoft YaHei"/>
                <a:ea typeface="Microsoft YaHei"/>
              </a:rPr>
              <a:t>5 </a:t>
            </a:r>
            <a:r>
              <a:rPr lang="zh-CN" sz="1500" b="1">
                <a:solidFill>
                  <a:srgbClr val="7FD1CD"/>
                </a:solidFill>
                <a:latin typeface="Microsoft YaHei"/>
                <a:ea typeface="Microsoft YaHei"/>
              </a:rPr>
              <a:t>项合规设计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7067550" y="294322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38B2AC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47" name="" descr="{&quot;isTemplate&quot;:true,&quot;type&quot;:&quot;text&quot;}"/>
          <p:cNvSpPr txBox="1"/>
          <p:nvPr/>
        </p:nvSpPr>
        <p:spPr>
          <a:xfrm rot="0" flipH="0" flipV="0">
            <a:off x="7334250" y="2933700"/>
            <a:ext cx="8572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数据最小化</a:t>
            </a:r>
            <a:endParaRPr/>
          </a:p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7067550" y="328612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38B2AC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7334250" y="3276600"/>
            <a:ext cx="12001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展示前二次脱敏</a:t>
            </a:r>
            <a:endParaRPr/>
          </a:p>
        </p:txBody>
      </p:sp>
      <p:sp>
        <p:nvSpPr>
          <p:cNvPr id="50" name="" descr="{&quot;isTemplate&quot;:true,&quot;type&quot;:&quot;text&quot;}"/>
          <p:cNvSpPr txBox="1"/>
          <p:nvPr/>
        </p:nvSpPr>
        <p:spPr>
          <a:xfrm rot="0" flipH="0" flipV="0">
            <a:off x="7067550" y="362902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38B2AC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7334250" y="3619500"/>
            <a:ext cx="6858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免责声明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7067550" y="397192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38B2AC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53" name="" descr="{&quot;isTemplate&quot;:true,&quot;type&quot;:&quot;text&quot;}"/>
          <p:cNvSpPr txBox="1"/>
          <p:nvPr/>
        </p:nvSpPr>
        <p:spPr>
          <a:xfrm rot="0" flipH="0" flipV="0">
            <a:off x="7334250" y="3962400"/>
            <a:ext cx="1028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本地推理优先</a:t>
            </a:r>
            <a:endParaRPr/>
          </a:p>
        </p:txBody>
      </p:sp>
      <p:sp>
        <p:nvSpPr>
          <p:cNvPr id="54" name="" descr="{&quot;isTemplate&quot;:true,&quot;type&quot;:&quot;text&quot;}"/>
          <p:cNvSpPr txBox="1"/>
          <p:nvPr/>
        </p:nvSpPr>
        <p:spPr>
          <a:xfrm rot="0" flipH="0" flipV="0">
            <a:off x="7067550" y="4314825"/>
            <a:ext cx="152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sz="1200">
                <a:solidFill>
                  <a:srgbClr val="38B2AC"/>
                </a:solidFill>
                <a:latin typeface="Microsoft YaHei"/>
                <a:ea typeface="Microsoft YaHei"/>
              </a:rPr>
              <a:t>✓</a:t>
            </a:r>
            <a:endParaRPr/>
          </a:p>
        </p:txBody>
      </p:sp>
      <p:sp>
        <p:nvSpPr>
          <p:cNvPr id="55" name="" descr="{&quot;isTemplate&quot;:true,&quot;type&quot;:&quot;text&quot;}"/>
          <p:cNvSpPr txBox="1"/>
          <p:nvPr/>
        </p:nvSpPr>
        <p:spPr>
          <a:xfrm rot="0" flipH="0" flipV="0">
            <a:off x="7334250" y="4305300"/>
            <a:ext cx="1847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可审计（置信度</a:t>
            </a:r>
            <a:r>
              <a:rPr lang="en-US" sz="1350">
                <a:solidFill>
                  <a:srgbClr val="FFFFFF"/>
                </a:solidFill>
                <a:latin typeface="Microsoft YaHei"/>
                <a:ea typeface="Microsoft YaHei"/>
              </a:rPr>
              <a:t>+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证据）</a:t>
            </a:r>
            <a:endParaRPr/>
          </a:p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666750" y="6315075"/>
            <a:ext cx="1466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医护洞察与温度指引引擎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11068050" y="63150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11 / 13</a:t>
            </a:r>
            <a:endParaRPr lang="en-US" sz="1050">
              <a:solidFill>
                <a:srgbClr val="718096"/>
              </a:solidFill>
              <a:latin typeface="Microsoft YaHei"/>
              <a:ea typeface="Microsoft YaHei"/>
            </a:endParaRPr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>
  <p:cSld>
    <p:spTree>
      <p:nvGrpSpPr>
        <p:cNvPr id="58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>
            <a:pPr/>
            <a:endParaRPr/>
          </a:p>
        </p:txBody>
      </p:sp>
      <p:sp>
        <p:nvSpPr>
          <p:cNvPr id="60" name="" descr="{&quot;isTemplate&quot;:true,&quot;type&quot;:&quot;text&quot;}"/>
          <p:cNvSpPr txBox="1"/>
          <p:nvPr/>
        </p:nvSpPr>
        <p:spPr>
          <a:xfrm rot="0" flipH="0" flipV="0">
            <a:off x="666750" y="381000"/>
            <a:ext cx="194310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A365D"/>
                </a:solidFill>
                <a:latin typeface="Microsoft YaHei"/>
                <a:ea typeface="Microsoft YaHei"/>
              </a:rPr>
              <a:t>理赔关怀增强</a:t>
            </a:r>
            <a:endParaRPr/>
          </a:p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2743200" y="381000"/>
            <a:ext cx="378142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>
                <a:solidFill>
                  <a:srgbClr val="718096"/>
                </a:solidFill>
                <a:latin typeface="Microsoft YaHei"/>
                <a:ea typeface="Microsoft YaHei"/>
              </a:rPr>
              <a:t>把</a:t>
            </a:r>
            <a:r>
              <a:rPr lang="en-US" sz="1350">
                <a:solidFill>
                  <a:srgbClr val="718096"/>
                </a:solidFill>
                <a:latin typeface="Microsoft YaHei"/>
                <a:ea typeface="Microsoft YaHei"/>
              </a:rPr>
              <a:t> 1.2 </a:t>
            </a:r>
            <a:r>
              <a:rPr lang="zh-CN" sz="1350">
                <a:solidFill>
                  <a:srgbClr val="718096"/>
                </a:solidFill>
                <a:latin typeface="Microsoft YaHei"/>
                <a:ea typeface="Microsoft YaHei"/>
              </a:rPr>
              <a:t>万条真实客服对话，变成懂理赔的关怀底座</a:t>
            </a:r>
            <a:endParaRPr/>
          </a:p>
        </p:txBody>
      </p:sp>
      <p:sp>
        <p:nvSpPr>
          <p:cNvPr id="62" name=""/>
          <p:cNvSpPr/>
          <p:nvPr/>
        </p:nvSpPr>
        <p:spPr>
          <a:xfrm rot="0" flipH="0" flipV="0">
            <a:off x="666750" y="1657350"/>
            <a:ext cx="6086475" cy="676275"/>
          </a:xfrm>
          <a:prstGeom prst="roundRect">
            <a:avLst>
              <a:gd name="adj" fmla="val 14085"/>
            </a:avLst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838200" y="1876425"/>
            <a:ext cx="247650" cy="247650"/>
          </a:xfrm>
          <a:custGeom>
            <a:pathLst>
              <a:path w="26" h="26">
                <a:moveTo>
                  <a:pt x="13" y="0"/>
                </a:moveTo>
                <a:lnTo>
                  <a:pt x="13" y="0"/>
                </a:lnTo>
                <a:cubicBezTo>
                  <a:pt x="20" y="0"/>
                  <a:pt x="26" y="6"/>
                  <a:pt x="26" y="13"/>
                </a:cubicBezTo>
                <a:lnTo>
                  <a:pt x="26" y="13"/>
                </a:lnTo>
                <a:cubicBezTo>
                  <a:pt x="26" y="20"/>
                  <a:pt x="20" y="26"/>
                  <a:pt x="13" y="26"/>
                </a:cubicBezTo>
                <a:lnTo>
                  <a:pt x="13" y="26"/>
                </a:lnTo>
                <a:cubicBezTo>
                  <a:pt x="6" y="26"/>
                  <a:pt x="0" y="20"/>
                  <a:pt x="0" y="13"/>
                </a:cubicBezTo>
                <a:lnTo>
                  <a:pt x="0" y="13"/>
                </a:lnTo>
                <a:cubicBezTo>
                  <a:pt x="0" y="6"/>
                  <a:pt x="6" y="0"/>
                  <a:pt x="13" y="0"/>
                </a:cubicBezTo>
                <a:close/>
              </a:path>
            </a:pathLst>
          </a:custGeom>
          <a:solidFill>
            <a:srgbClr val="2B6CB0"/>
          </a:solidFill>
          <a:ln/>
        </p:spPr>
        <p:txBody>
          <a:bodyPr/>
          <a:p>
            <a:pPr/>
            <a:endParaRPr/>
          </a:p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923925" y="1924050"/>
            <a:ext cx="85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1219200" y="1771650"/>
            <a:ext cx="53625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365D"/>
                </a:solidFill>
                <a:latin typeface="Microsoft YaHei"/>
                <a:ea typeface="Microsoft YaHei"/>
              </a:rPr>
              <a:t>真实问答库（</a:t>
            </a:r>
            <a:r>
              <a:rPr lang="en-US" sz="1275" b="1">
                <a:solidFill>
                  <a:srgbClr val="1A365D"/>
                </a:solidFill>
                <a:latin typeface="Microsoft YaHei"/>
                <a:ea typeface="Microsoft YaHei"/>
              </a:rPr>
              <a:t>RAG </a:t>
            </a:r>
            <a:r>
              <a:rPr lang="zh-CN" sz="1275" b="1">
                <a:solidFill>
                  <a:srgbClr val="1A365D"/>
                </a:solidFill>
                <a:latin typeface="Microsoft YaHei"/>
                <a:ea typeface="Microsoft YaHei"/>
              </a:rPr>
              <a:t>底座）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1219200" y="1971675"/>
            <a:ext cx="53625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en-US" sz="1050">
                <a:solidFill>
                  <a:srgbClr val="718096"/>
                </a:solidFill>
                <a:latin typeface="Microsoft YaHei"/>
                <a:ea typeface="Microsoft YaHei"/>
              </a:rPr>
              <a:t>12594 </a:t>
            </a: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条客服会话</a:t>
            </a:r>
            <a:r>
              <a:rPr lang="en-US" sz="1050">
                <a:solidFill>
                  <a:srgbClr val="718096"/>
                </a:solidFill>
                <a:latin typeface="Microsoft YaHei"/>
                <a:ea typeface="Microsoft YaHei"/>
              </a:rPr>
              <a:t> → 38846 </a:t>
            </a: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个问答对，</a:t>
            </a:r>
            <a:r>
              <a:rPr lang="en-US" sz="1050">
                <a:solidFill>
                  <a:srgbClr val="718096"/>
                </a:solidFill>
                <a:latin typeface="Microsoft YaHei"/>
                <a:ea typeface="Microsoft YaHei"/>
              </a:rPr>
              <a:t>10 </a:t>
            </a: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主题倒排索引</a:t>
            </a:r>
            <a:endParaRPr/>
          </a:p>
        </p:txBody>
      </p:sp>
      <p:sp>
        <p:nvSpPr>
          <p:cNvPr id="67" name=""/>
          <p:cNvSpPr/>
          <p:nvPr/>
        </p:nvSpPr>
        <p:spPr>
          <a:xfrm rot="0" flipH="0" flipV="0">
            <a:off x="666750" y="2447925"/>
            <a:ext cx="6086475" cy="676275"/>
          </a:xfrm>
          <a:prstGeom prst="roundRect">
            <a:avLst>
              <a:gd name="adj" fmla="val 14085"/>
            </a:avLst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68" name=""/>
          <p:cNvSpPr/>
          <p:nvPr/>
        </p:nvSpPr>
        <p:spPr>
          <a:xfrm rot="0" flipH="0" flipV="0">
            <a:off x="838200" y="2667000"/>
            <a:ext cx="247650" cy="247650"/>
          </a:xfrm>
          <a:custGeom>
            <a:pathLst>
              <a:path w="26" h="26">
                <a:moveTo>
                  <a:pt x="13" y="0"/>
                </a:moveTo>
                <a:lnTo>
                  <a:pt x="13" y="0"/>
                </a:lnTo>
                <a:cubicBezTo>
                  <a:pt x="20" y="0"/>
                  <a:pt x="26" y="6"/>
                  <a:pt x="26" y="13"/>
                </a:cubicBezTo>
                <a:lnTo>
                  <a:pt x="26" y="13"/>
                </a:lnTo>
                <a:cubicBezTo>
                  <a:pt x="26" y="20"/>
                  <a:pt x="20" y="26"/>
                  <a:pt x="13" y="26"/>
                </a:cubicBezTo>
                <a:lnTo>
                  <a:pt x="13" y="26"/>
                </a:lnTo>
                <a:cubicBezTo>
                  <a:pt x="6" y="26"/>
                  <a:pt x="0" y="20"/>
                  <a:pt x="0" y="13"/>
                </a:cubicBezTo>
                <a:lnTo>
                  <a:pt x="0" y="13"/>
                </a:lnTo>
                <a:cubicBezTo>
                  <a:pt x="0" y="6"/>
                  <a:pt x="6" y="0"/>
                  <a:pt x="13" y="0"/>
                </a:cubicBezTo>
                <a:close/>
              </a:path>
            </a:pathLst>
          </a:custGeom>
          <a:solidFill>
            <a:srgbClr val="2B6CB0"/>
          </a:solidFill>
          <a:ln/>
        </p:spPr>
        <p:txBody>
          <a:bodyPr/>
          <a:p>
            <a:pPr/>
            <a:endParaRPr/>
          </a:p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923925" y="2714625"/>
            <a:ext cx="85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1219200" y="2562225"/>
            <a:ext cx="53625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365D"/>
                </a:solidFill>
                <a:latin typeface="Microsoft YaHei"/>
                <a:ea typeface="Microsoft YaHei"/>
              </a:rPr>
              <a:t>预判式</a:t>
            </a:r>
            <a:r>
              <a:rPr lang="en-US" sz="1275" b="1">
                <a:solidFill>
                  <a:srgbClr val="1A365D"/>
                </a:solidFill>
                <a:latin typeface="Microsoft YaHei"/>
                <a:ea typeface="Microsoft YaHei"/>
              </a:rPr>
              <a:t> FAQ</a:t>
            </a:r>
            <a:endParaRPr/>
          </a:p>
        </p:txBody>
      </p:sp>
      <p:sp>
        <p:nvSpPr>
          <p:cNvPr id="71" name="" descr="{&quot;isTemplate&quot;:true,&quot;type&quot;:&quot;text&quot;}"/>
          <p:cNvSpPr txBox="1"/>
          <p:nvPr/>
        </p:nvSpPr>
        <p:spPr>
          <a:xfrm rot="0" flipH="0" flipV="0">
            <a:off x="1219200" y="2762250"/>
            <a:ext cx="53625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病历特征</a:t>
            </a:r>
            <a:r>
              <a:rPr lang="en-US" sz="1050">
                <a:solidFill>
                  <a:srgbClr val="718096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预判最可能问的</a:t>
            </a:r>
            <a:r>
              <a:rPr lang="en-US" sz="1050">
                <a:solidFill>
                  <a:srgbClr val="718096"/>
                </a:solidFill>
                <a:latin typeface="Microsoft YaHei"/>
                <a:ea typeface="Microsoft YaHei"/>
              </a:rPr>
              <a:t> 3 </a:t>
            </a: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题，答案从真实会话检索</a:t>
            </a:r>
            <a:endParaRPr/>
          </a:p>
        </p:txBody>
      </p:sp>
      <p:sp>
        <p:nvSpPr>
          <p:cNvPr id="72" name=""/>
          <p:cNvSpPr/>
          <p:nvPr/>
        </p:nvSpPr>
        <p:spPr>
          <a:xfrm rot="0" flipH="0" flipV="0">
            <a:off x="666750" y="3238500"/>
            <a:ext cx="6086475" cy="676275"/>
          </a:xfrm>
          <a:prstGeom prst="roundRect">
            <a:avLst>
              <a:gd name="adj" fmla="val 14085"/>
            </a:avLst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3" name=""/>
          <p:cNvSpPr/>
          <p:nvPr/>
        </p:nvSpPr>
        <p:spPr>
          <a:xfrm rot="0" flipH="0" flipV="0">
            <a:off x="838200" y="3457575"/>
            <a:ext cx="247650" cy="247650"/>
          </a:xfrm>
          <a:custGeom>
            <a:pathLst>
              <a:path w="26" h="26">
                <a:moveTo>
                  <a:pt x="13" y="0"/>
                </a:moveTo>
                <a:lnTo>
                  <a:pt x="13" y="0"/>
                </a:lnTo>
                <a:cubicBezTo>
                  <a:pt x="20" y="0"/>
                  <a:pt x="26" y="6"/>
                  <a:pt x="26" y="13"/>
                </a:cubicBezTo>
                <a:lnTo>
                  <a:pt x="26" y="13"/>
                </a:lnTo>
                <a:cubicBezTo>
                  <a:pt x="26" y="20"/>
                  <a:pt x="20" y="26"/>
                  <a:pt x="13" y="26"/>
                </a:cubicBezTo>
                <a:lnTo>
                  <a:pt x="13" y="26"/>
                </a:lnTo>
                <a:cubicBezTo>
                  <a:pt x="6" y="26"/>
                  <a:pt x="0" y="20"/>
                  <a:pt x="0" y="13"/>
                </a:cubicBezTo>
                <a:lnTo>
                  <a:pt x="0" y="13"/>
                </a:lnTo>
                <a:cubicBezTo>
                  <a:pt x="0" y="6"/>
                  <a:pt x="6" y="0"/>
                  <a:pt x="13" y="0"/>
                </a:cubicBezTo>
                <a:close/>
              </a:path>
            </a:pathLst>
          </a:custGeom>
          <a:solidFill>
            <a:srgbClr val="2B6CB0"/>
          </a:solidFill>
          <a:ln/>
        </p:spPr>
        <p:txBody>
          <a:bodyPr/>
          <a:p>
            <a:pPr/>
            <a:endParaRPr/>
          </a:p>
        </p:txBody>
      </p:sp>
      <p:sp>
        <p:nvSpPr>
          <p:cNvPr id="74" name="" descr="{&quot;isTemplate&quot;:true,&quot;type&quot;:&quot;text&quot;}"/>
          <p:cNvSpPr txBox="1"/>
          <p:nvPr/>
        </p:nvSpPr>
        <p:spPr>
          <a:xfrm rot="0" flipH="0" flipV="0">
            <a:off x="923925" y="3505200"/>
            <a:ext cx="85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75" name="" descr="{&quot;isTemplate&quot;:true,&quot;type&quot;:&quot;text&quot;}"/>
          <p:cNvSpPr txBox="1"/>
          <p:nvPr/>
        </p:nvSpPr>
        <p:spPr>
          <a:xfrm rot="0" flipH="0" flipV="0">
            <a:off x="1219200" y="3352800"/>
            <a:ext cx="53625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365D"/>
                </a:solidFill>
                <a:latin typeface="Microsoft YaHei"/>
                <a:ea typeface="Microsoft YaHei"/>
              </a:rPr>
              <a:t>理赔体验痛点</a:t>
            </a:r>
            <a:endParaRPr/>
          </a:p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1219200" y="3552825"/>
            <a:ext cx="53625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痛点分类</a:t>
            </a:r>
            <a:r>
              <a:rPr lang="en-US" sz="1050">
                <a:solidFill>
                  <a:srgbClr val="718096"/>
                </a:solidFill>
                <a:latin typeface="Microsoft YaHei"/>
                <a:ea typeface="Microsoft YaHei"/>
              </a:rPr>
              <a:t> 9 → 13 </a:t>
            </a: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类，新增垫付</a:t>
            </a:r>
            <a:r>
              <a:rPr lang="en-US" sz="1050">
                <a:solidFill>
                  <a:srgbClr val="718096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免赔额</a:t>
            </a:r>
            <a:r>
              <a:rPr lang="en-US" sz="1050">
                <a:solidFill>
                  <a:srgbClr val="718096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进度焦虑</a:t>
            </a:r>
            <a:r>
              <a:rPr lang="en-US" sz="1050">
                <a:solidFill>
                  <a:srgbClr val="718096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材料补件</a:t>
            </a:r>
            <a:endParaRPr/>
          </a:p>
        </p:txBody>
      </p:sp>
      <p:sp>
        <p:nvSpPr>
          <p:cNvPr id="77" name=""/>
          <p:cNvSpPr/>
          <p:nvPr/>
        </p:nvSpPr>
        <p:spPr>
          <a:xfrm rot="0" flipH="0" flipV="0">
            <a:off x="666750" y="4029075"/>
            <a:ext cx="6086475" cy="676275"/>
          </a:xfrm>
          <a:prstGeom prst="roundRect">
            <a:avLst>
              <a:gd name="adj" fmla="val 14085"/>
            </a:avLst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78" name=""/>
          <p:cNvSpPr/>
          <p:nvPr/>
        </p:nvSpPr>
        <p:spPr>
          <a:xfrm rot="0" flipH="0" flipV="0">
            <a:off x="838200" y="4248150"/>
            <a:ext cx="247650" cy="247650"/>
          </a:xfrm>
          <a:custGeom>
            <a:pathLst>
              <a:path w="26" h="26">
                <a:moveTo>
                  <a:pt x="13" y="0"/>
                </a:moveTo>
                <a:lnTo>
                  <a:pt x="13" y="0"/>
                </a:lnTo>
                <a:cubicBezTo>
                  <a:pt x="20" y="0"/>
                  <a:pt x="26" y="6"/>
                  <a:pt x="26" y="13"/>
                </a:cubicBezTo>
                <a:lnTo>
                  <a:pt x="26" y="13"/>
                </a:lnTo>
                <a:cubicBezTo>
                  <a:pt x="26" y="20"/>
                  <a:pt x="20" y="26"/>
                  <a:pt x="13" y="26"/>
                </a:cubicBezTo>
                <a:lnTo>
                  <a:pt x="13" y="26"/>
                </a:lnTo>
                <a:cubicBezTo>
                  <a:pt x="6" y="26"/>
                  <a:pt x="0" y="20"/>
                  <a:pt x="0" y="13"/>
                </a:cubicBezTo>
                <a:lnTo>
                  <a:pt x="0" y="13"/>
                </a:lnTo>
                <a:cubicBezTo>
                  <a:pt x="0" y="6"/>
                  <a:pt x="6" y="0"/>
                  <a:pt x="13" y="0"/>
                </a:cubicBezTo>
                <a:close/>
              </a:path>
            </a:pathLst>
          </a:custGeom>
          <a:solidFill>
            <a:srgbClr val="2B6CB0"/>
          </a:solidFill>
          <a:ln/>
        </p:spPr>
        <p:txBody>
          <a:bodyPr/>
          <a:p>
            <a:pPr/>
            <a:endParaRPr/>
          </a:p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923925" y="4295775"/>
            <a:ext cx="85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1219200" y="4143375"/>
            <a:ext cx="53625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365D"/>
                </a:solidFill>
                <a:latin typeface="Microsoft YaHei"/>
                <a:ea typeface="Microsoft YaHei"/>
              </a:rPr>
              <a:t>触达</a:t>
            </a:r>
            <a:r>
              <a:rPr lang="en-US" sz="1275" b="1">
                <a:solidFill>
                  <a:srgbClr val="1A365D"/>
                </a:solidFill>
                <a:latin typeface="Microsoft YaHei"/>
                <a:ea typeface="Microsoft YaHei"/>
              </a:rPr>
              <a:t> + </a:t>
            </a:r>
            <a:r>
              <a:rPr lang="zh-CN" sz="1275" b="1">
                <a:solidFill>
                  <a:srgbClr val="1A365D"/>
                </a:solidFill>
                <a:latin typeface="Microsoft YaHei"/>
                <a:ea typeface="Microsoft YaHei"/>
              </a:rPr>
              <a:t>增值服务</a:t>
            </a:r>
            <a:endParaRPr/>
          </a:p>
        </p:txBody>
      </p:sp>
      <p:sp>
        <p:nvSpPr>
          <p:cNvPr id="81" name="" descr="{&quot;isTemplate&quot;:true,&quot;type&quot;:&quot;text&quot;}"/>
          <p:cNvSpPr txBox="1"/>
          <p:nvPr/>
        </p:nvSpPr>
        <p:spPr>
          <a:xfrm rot="0" flipH="0" flipV="0">
            <a:off x="1219200" y="4343400"/>
            <a:ext cx="53625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企微</a:t>
            </a:r>
            <a:r>
              <a:rPr lang="en-US" sz="1050">
                <a:solidFill>
                  <a:srgbClr val="718096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呼内渠道优选，病种</a:t>
            </a:r>
            <a:r>
              <a:rPr lang="en-US" sz="1050">
                <a:solidFill>
                  <a:srgbClr val="718096"/>
                </a:solidFill>
                <a:latin typeface="Microsoft YaHei"/>
                <a:ea typeface="Microsoft YaHei"/>
              </a:rPr>
              <a:t> → </a:t>
            </a: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特药</a:t>
            </a:r>
            <a:r>
              <a:rPr lang="en-US" sz="1050">
                <a:solidFill>
                  <a:srgbClr val="718096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质子</a:t>
            </a:r>
            <a:r>
              <a:rPr lang="en-US" sz="1050">
                <a:solidFill>
                  <a:srgbClr val="718096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绿通</a:t>
            </a:r>
            <a:r>
              <a:rPr lang="en-US" sz="1050">
                <a:solidFill>
                  <a:srgbClr val="718096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护工</a:t>
            </a:r>
            <a:r>
              <a:rPr lang="en-US" sz="1050">
                <a:solidFill>
                  <a:srgbClr val="718096"/>
                </a:solidFill>
                <a:latin typeface="Microsoft YaHei"/>
                <a:ea typeface="Microsoft YaHei"/>
              </a:rPr>
              <a:t>/</a:t>
            </a: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陪诊</a:t>
            </a:r>
            <a:endParaRPr/>
          </a:p>
        </p:txBody>
      </p:sp>
      <p:sp>
        <p:nvSpPr>
          <p:cNvPr id="82" name=""/>
          <p:cNvSpPr/>
          <p:nvPr/>
        </p:nvSpPr>
        <p:spPr>
          <a:xfrm rot="0" flipH="0" flipV="0">
            <a:off x="666750" y="4819650"/>
            <a:ext cx="6086475" cy="676275"/>
          </a:xfrm>
          <a:prstGeom prst="roundRect">
            <a:avLst>
              <a:gd name="adj" fmla="val 14085"/>
            </a:avLst>
          </a:prstGeom>
          <a:solidFill>
            <a:srgbClr val="F7FAFC"/>
          </a:solidFill>
          <a:ln w="12700">
            <a:solidFill>
              <a:srgbClr val="E2E8F0"/>
            </a:solidFill>
            <a:prstDash val="solid"/>
          </a:ln>
        </p:spPr>
        <p:txBody>
          <a:bodyPr/>
          <a:p>
            <a:pPr/>
            <a:endParaRPr/>
          </a:p>
        </p:txBody>
      </p:sp>
      <p:sp>
        <p:nvSpPr>
          <p:cNvPr id="83" name=""/>
          <p:cNvSpPr/>
          <p:nvPr/>
        </p:nvSpPr>
        <p:spPr>
          <a:xfrm rot="0" flipH="0" flipV="0">
            <a:off x="838200" y="5038725"/>
            <a:ext cx="247650" cy="247650"/>
          </a:xfrm>
          <a:custGeom>
            <a:pathLst>
              <a:path w="26" h="26">
                <a:moveTo>
                  <a:pt x="13" y="0"/>
                </a:moveTo>
                <a:lnTo>
                  <a:pt x="13" y="0"/>
                </a:lnTo>
                <a:cubicBezTo>
                  <a:pt x="20" y="0"/>
                  <a:pt x="26" y="6"/>
                  <a:pt x="26" y="13"/>
                </a:cubicBezTo>
                <a:lnTo>
                  <a:pt x="26" y="13"/>
                </a:lnTo>
                <a:cubicBezTo>
                  <a:pt x="26" y="20"/>
                  <a:pt x="20" y="26"/>
                  <a:pt x="13" y="26"/>
                </a:cubicBezTo>
                <a:lnTo>
                  <a:pt x="13" y="26"/>
                </a:lnTo>
                <a:cubicBezTo>
                  <a:pt x="6" y="26"/>
                  <a:pt x="0" y="20"/>
                  <a:pt x="0" y="13"/>
                </a:cubicBezTo>
                <a:lnTo>
                  <a:pt x="0" y="13"/>
                </a:lnTo>
                <a:cubicBezTo>
                  <a:pt x="0" y="6"/>
                  <a:pt x="6" y="0"/>
                  <a:pt x="13" y="0"/>
                </a:cubicBezTo>
                <a:close/>
              </a:path>
            </a:pathLst>
          </a:custGeom>
          <a:solidFill>
            <a:srgbClr val="2B6CB0"/>
          </a:solidFill>
          <a:ln/>
        </p:spPr>
        <p:txBody>
          <a:bodyPr/>
          <a:p>
            <a:pPr/>
            <a:endParaRPr/>
          </a:p>
        </p:txBody>
      </p:sp>
      <p:sp>
        <p:nvSpPr>
          <p:cNvPr id="84" name="" descr="{&quot;isTemplate&quot;:true,&quot;type&quot;:&quot;text&quot;}"/>
          <p:cNvSpPr txBox="1"/>
          <p:nvPr/>
        </p:nvSpPr>
        <p:spPr>
          <a:xfrm rot="0" flipH="0" flipV="0">
            <a:off x="923925" y="5086350"/>
            <a:ext cx="857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75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1219200" y="4933950"/>
            <a:ext cx="53625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A365D"/>
                </a:solidFill>
                <a:latin typeface="Microsoft YaHei"/>
                <a:ea typeface="Microsoft YaHei"/>
              </a:rPr>
              <a:t>闭环</a:t>
            </a:r>
            <a:r>
              <a:rPr lang="en-US" sz="1275" b="1">
                <a:solidFill>
                  <a:srgbClr val="1A365D"/>
                </a:solidFill>
                <a:latin typeface="Microsoft YaHei"/>
                <a:ea typeface="Microsoft YaHei"/>
              </a:rPr>
              <a:t> KPI + </a:t>
            </a:r>
            <a:r>
              <a:rPr lang="zh-CN" sz="1275" b="1">
                <a:solidFill>
                  <a:srgbClr val="1A365D"/>
                </a:solidFill>
                <a:latin typeface="Microsoft YaHei"/>
                <a:ea typeface="Microsoft YaHei"/>
              </a:rPr>
              <a:t>异常监控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1219200" y="5133975"/>
            <a:ext cx="5362575" cy="24765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咨询量变化率</a:t>
            </a:r>
            <a:r>
              <a:rPr lang="en-US" sz="1050">
                <a:solidFill>
                  <a:srgbClr val="718096"/>
                </a:solidFill>
                <a:latin typeface="Microsoft YaHei"/>
                <a:ea typeface="Microsoft YaHei"/>
              </a:rPr>
              <a:t> + </a:t>
            </a: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需求漂移预警，关怀效果可度量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7019925" y="1038225"/>
            <a:ext cx="4505325" cy="5067300"/>
          </a:xfrm>
          <a:prstGeom prst="roundRect">
            <a:avLst>
              <a:gd name="adj" fmla="val 3383"/>
            </a:avLst>
          </a:prstGeom>
          <a:gradFill>
            <a:gsLst>
              <a:gs pos="0">
                <a:srgbClr val="1A365D"/>
              </a:gs>
              <a:gs pos="100000">
                <a:srgbClr val="2B6CB0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7286625" y="2190750"/>
            <a:ext cx="39719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7FD1CD"/>
                </a:solidFill>
                <a:latin typeface="Microsoft YaHei"/>
                <a:ea typeface="Microsoft YaHei"/>
              </a:rPr>
              <a:t>真实病例验证（肺癌</a:t>
            </a:r>
            <a:r>
              <a:rPr lang="en-US" sz="1350" b="1">
                <a:solidFill>
                  <a:srgbClr val="7FD1CD"/>
                </a:solidFill>
                <a:latin typeface="Microsoft YaHei"/>
                <a:ea typeface="Microsoft YaHei"/>
              </a:rPr>
              <a:t> · </a:t>
            </a:r>
            <a:r>
              <a:rPr lang="zh-CN" sz="1350" b="1">
                <a:solidFill>
                  <a:srgbClr val="7FD1CD"/>
                </a:solidFill>
                <a:latin typeface="Microsoft YaHei"/>
                <a:ea typeface="Microsoft YaHei"/>
              </a:rPr>
              <a:t>自费</a:t>
            </a:r>
            <a:r>
              <a:rPr lang="en-US" sz="1350" b="1">
                <a:solidFill>
                  <a:srgbClr val="7FD1CD"/>
                </a:solidFill>
                <a:latin typeface="Microsoft YaHei"/>
                <a:ea typeface="Microsoft YaHei"/>
              </a:rPr>
              <a:t> 33%</a:t>
            </a:r>
            <a:r>
              <a:rPr lang="zh-CN" sz="1350" b="1">
                <a:solidFill>
                  <a:srgbClr val="7FD1CD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7286625" y="2600325"/>
            <a:ext cx="6667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38B2AC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7953375" y="2590800"/>
            <a:ext cx="3305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类理赔体验痛点</a:t>
            </a:r>
            <a:endParaRPr/>
          </a:p>
        </p:txBody>
      </p:sp>
      <p:sp>
        <p:nvSpPr>
          <p:cNvPr id="91" name="" descr="{&quot;isTemplate&quot;:true,&quot;type&quot;:&quot;text&quot;}"/>
          <p:cNvSpPr txBox="1"/>
          <p:nvPr/>
        </p:nvSpPr>
        <p:spPr>
          <a:xfrm rot="0" flipH="0" flipV="0">
            <a:off x="7953375" y="2781300"/>
            <a:ext cx="3305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>垫付</a:t>
            </a:r>
            <a:r>
              <a:rPr lang="en-US" sz="975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> / </a:t>
            </a:r>
            <a:r>
              <a:rPr lang="zh-CN" sz="975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>免赔额</a:t>
            </a:r>
            <a:r>
              <a:rPr lang="en-US" sz="975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> / </a:t>
            </a:r>
            <a:r>
              <a:rPr lang="zh-CN" sz="975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>进度焦虑</a:t>
            </a:r>
            <a:r>
              <a:rPr lang="en-US" sz="975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> / </a:t>
            </a:r>
            <a:r>
              <a:rPr lang="zh-CN" sz="975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>材料补件</a:t>
            </a:r>
            <a:endParaRPr/>
          </a:p>
        </p:txBody>
      </p:sp>
      <p:sp>
        <p:nvSpPr>
          <p:cNvPr id="92" name="" descr="{&quot;isTemplate&quot;:true,&quot;type&quot;:&quot;text&quot;}"/>
          <p:cNvSpPr txBox="1"/>
          <p:nvPr/>
        </p:nvSpPr>
        <p:spPr>
          <a:xfrm rot="0" flipH="0" flipV="0">
            <a:off x="7286625" y="3095625"/>
            <a:ext cx="6667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38B2AC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93" name="" descr="{&quot;isTemplate&quot;:true,&quot;type&quot;:&quot;text&quot;}"/>
          <p:cNvSpPr txBox="1"/>
          <p:nvPr/>
        </p:nvSpPr>
        <p:spPr>
          <a:xfrm rot="0" flipH="0" flipV="0">
            <a:off x="7953375" y="3086100"/>
            <a:ext cx="3305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条预判</a:t>
            </a: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 FAQ</a:t>
            </a:r>
            <a:endParaRPr/>
          </a:p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7953375" y="3276600"/>
            <a:ext cx="3305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>均带真实客服问答依据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7286625" y="3590925"/>
            <a:ext cx="6667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38B2AC"/>
                </a:solidFill>
                <a:latin typeface="Microsoft YaHei"/>
                <a:ea typeface="Microsoft YaHei"/>
              </a:rPr>
              <a:t>呼入</a:t>
            </a:r>
            <a:endParaRPr/>
          </a:p>
        </p:txBody>
      </p:sp>
      <p:sp>
        <p:nvSpPr>
          <p:cNvPr id="96" name="" descr="{&quot;isTemplate&quot;:true,&quot;type&quot;:&quot;text&quot;}"/>
          <p:cNvSpPr txBox="1"/>
          <p:nvPr/>
        </p:nvSpPr>
        <p:spPr>
          <a:xfrm rot="0" flipH="0" flipV="0">
            <a:off x="7953375" y="3581400"/>
            <a:ext cx="3305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触达优先</a:t>
            </a:r>
            <a:endParaRPr/>
          </a:p>
        </p:txBody>
      </p:sp>
      <p:sp>
        <p:nvSpPr>
          <p:cNvPr id="97" name="" descr="{&quot;isTemplate&quot;:true,&quot;type&quot;:&quot;text&quot;}"/>
          <p:cNvSpPr txBox="1"/>
          <p:nvPr/>
        </p:nvSpPr>
        <p:spPr>
          <a:xfrm rot="0" flipH="0" flipV="0">
            <a:off x="7953375" y="3771900"/>
            <a:ext cx="3305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>高自费走电话，普通走企微</a:t>
            </a:r>
            <a:endParaRPr/>
          </a:p>
        </p:txBody>
      </p:sp>
      <p:sp>
        <p:nvSpPr>
          <p:cNvPr id="98" name="" descr="{&quot;isTemplate&quot;:true,&quot;type&quot;:&quot;text&quot;}"/>
          <p:cNvSpPr txBox="1"/>
          <p:nvPr/>
        </p:nvSpPr>
        <p:spPr>
          <a:xfrm rot="0" flipH="0" flipV="0">
            <a:off x="7286625" y="4086225"/>
            <a:ext cx="66675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100" b="1">
                <a:solidFill>
                  <a:srgbClr val="38B2AC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7953375" y="4076700"/>
            <a:ext cx="33051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组增值服务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7953375" y="4267200"/>
            <a:ext cx="330517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>特药</a:t>
            </a:r>
            <a:r>
              <a:rPr lang="en-US" sz="975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>质子</a:t>
            </a:r>
            <a:r>
              <a:rPr lang="en-US" sz="975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>绿通</a:t>
            </a:r>
            <a:r>
              <a:rPr lang="en-US" sz="975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> + </a:t>
            </a:r>
            <a:r>
              <a:rPr lang="zh-CN" sz="975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>护工</a:t>
            </a:r>
            <a:r>
              <a:rPr lang="en-US" sz="975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FFFFFF">
                    <a:alpha val="75000"/>
                  </a:srgbClr>
                </a:solidFill>
                <a:latin typeface="Microsoft YaHei"/>
                <a:ea typeface="Microsoft YaHei"/>
              </a:rPr>
              <a:t>陪诊</a:t>
            </a:r>
            <a:endParaRPr/>
          </a:p>
        </p:txBody>
      </p:sp>
      <p:sp>
        <p:nvSpPr>
          <p:cNvPr id="101" name="" descr="{&quot;isTemplate&quot;:true,&quot;type&quot;:&quot;text&quot;}"/>
          <p:cNvSpPr txBox="1"/>
          <p:nvPr/>
        </p:nvSpPr>
        <p:spPr>
          <a:xfrm rot="0" flipH="0" flipV="0">
            <a:off x="7286625" y="4648200"/>
            <a:ext cx="3971925" cy="304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00000"/>
              </a:lnSpc>
            </a:pPr>
            <a:r>
              <a:rPr lang="zh-CN" sz="975" i="1">
                <a:solidFill>
                  <a:srgbClr val="FFFFFF">
                    <a:alpha val="60000"/>
                  </a:srgbClr>
                </a:solidFill>
                <a:latin typeface="Microsoft YaHei"/>
                <a:ea typeface="Microsoft YaHei"/>
              </a:rPr>
              <a:t>端到端跑通：触发</a:t>
            </a:r>
            <a:r>
              <a:rPr lang="en-US" sz="975" i="1">
                <a:solidFill>
                  <a:srgbClr val="FFFFFF">
                    <a:alpha val="60000"/>
                  </a:srgbClr>
                </a:solidFill>
                <a:latin typeface="Microsoft YaHei"/>
                <a:ea typeface="Microsoft YaHei"/>
              </a:rPr>
              <a:t> → a </a:t>
            </a:r>
            <a:r>
              <a:rPr lang="zh-CN" sz="975" i="1">
                <a:solidFill>
                  <a:srgbClr val="FFFFFF">
                    <a:alpha val="60000"/>
                  </a:srgbClr>
                </a:solidFill>
                <a:latin typeface="Microsoft YaHei"/>
                <a:ea typeface="Microsoft YaHei"/>
              </a:rPr>
              <a:t>结构化</a:t>
            </a:r>
            <a:r>
              <a:rPr lang="en-US" sz="975" i="1">
                <a:solidFill>
                  <a:srgbClr val="FFFFFF">
                    <a:alpha val="60000"/>
                  </a:srgbClr>
                </a:solidFill>
                <a:latin typeface="Microsoft YaHei"/>
                <a:ea typeface="Microsoft YaHei"/>
              </a:rPr>
              <a:t> → b </a:t>
            </a:r>
            <a:r>
              <a:rPr lang="zh-CN" sz="975" i="1">
                <a:solidFill>
                  <a:srgbClr val="FFFFFF">
                    <a:alpha val="60000"/>
                  </a:srgbClr>
                </a:solidFill>
                <a:latin typeface="Microsoft YaHei"/>
                <a:ea typeface="Microsoft YaHei"/>
              </a:rPr>
              <a:t>痛点</a:t>
            </a:r>
            <a:r>
              <a:rPr lang="en-US" sz="975" i="1">
                <a:solidFill>
                  <a:srgbClr val="FFFFFF">
                    <a:alpha val="60000"/>
                  </a:srgbClr>
                </a:solidFill>
                <a:latin typeface="Microsoft YaHei"/>
                <a:ea typeface="Microsoft YaHei"/>
              </a:rPr>
              <a:t> → c </a:t>
            </a:r>
            <a:r>
              <a:rPr lang="zh-CN" sz="975" i="1">
                <a:solidFill>
                  <a:srgbClr val="FFFFFF">
                    <a:alpha val="60000"/>
                  </a:srgbClr>
                </a:solidFill>
                <a:latin typeface="Microsoft YaHei"/>
                <a:ea typeface="Microsoft YaHei"/>
              </a:rPr>
              <a:t>指引</a:t>
            </a:r>
            <a:r>
              <a:rPr lang="en-US" sz="975" i="1">
                <a:solidFill>
                  <a:srgbClr val="FFFFFF">
                    <a:alpha val="60000"/>
                  </a:srgbClr>
                </a:solidFill>
                <a:latin typeface="Microsoft YaHei"/>
                <a:ea typeface="Microsoft YaHei"/>
              </a:rPr>
              <a:t> → d </a:t>
            </a:r>
            <a:r>
              <a:rPr lang="zh-CN" sz="975" i="1">
                <a:solidFill>
                  <a:srgbClr val="FFFFFF">
                    <a:alpha val="60000"/>
                  </a:srgbClr>
                </a:solidFill>
                <a:latin typeface="Microsoft YaHei"/>
                <a:ea typeface="Microsoft YaHei"/>
              </a:rPr>
              <a:t>画像</a:t>
            </a:r>
            <a:r>
              <a:rPr lang="en-US" sz="975" i="1">
                <a:solidFill>
                  <a:srgbClr val="FFFFFF">
                    <a:alpha val="60000"/>
                  </a:srgbClr>
                </a:solidFill>
                <a:latin typeface="Microsoft YaHei"/>
                <a:ea typeface="Microsoft YaHei"/>
              </a:rPr>
              <a:t> → e </a:t>
            </a:r>
            <a:r>
              <a:rPr lang="zh-CN" sz="975" i="1">
                <a:solidFill>
                  <a:srgbClr val="FFFFFF">
                    <a:alpha val="60000"/>
                  </a:srgbClr>
                </a:solidFill>
                <a:latin typeface="Microsoft YaHei"/>
                <a:ea typeface="Microsoft YaHei"/>
              </a:rPr>
              <a:t>关怀增强</a:t>
            </a:r>
            <a:endParaRPr/>
          </a:p>
        </p:txBody>
      </p:sp>
      <p:sp>
        <p:nvSpPr>
          <p:cNvPr id="102" name="" descr="{&quot;isTemplate&quot;:true,&quot;type&quot;:&quot;text&quot;}"/>
          <p:cNvSpPr txBox="1"/>
          <p:nvPr/>
        </p:nvSpPr>
        <p:spPr>
          <a:xfrm rot="0" flipH="0" flipV="0">
            <a:off x="666750" y="6315075"/>
            <a:ext cx="146685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718096"/>
                </a:solidFill>
                <a:latin typeface="Microsoft YaHei"/>
                <a:ea typeface="Microsoft YaHei"/>
              </a:rPr>
              <a:t>医护洞察与温度指引引擎</a:t>
            </a:r>
            <a:endParaRPr/>
          </a:p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11068050" y="6315075"/>
            <a:ext cx="4572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050">
                <a:solidFill>
                  <a:srgbClr val="718096"/>
                </a:solidFill>
                <a:latin typeface="Microsoft YaHei"/>
                <a:ea typeface="Microsoft YaHei"/>
              </a:rPr>
              <a:t>12 / 13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104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gradFill>
            <a:gsLst>
              <a:gs pos="0">
                <a:srgbClr val="1A365D"/>
              </a:gs>
              <a:gs pos="55000">
                <a:srgbClr val="2B6CB0"/>
              </a:gs>
              <a:gs pos="100000">
                <a:srgbClr val="38B2AC"/>
              </a:gs>
            </a:gsLst>
            <a:lin ang="2700000" scaled="1"/>
          </a:gradFill>
          <a:ln/>
        </p:spPr>
        <p:txBody>
          <a:bodyPr/>
          <a:p>
            <a:pPr/>
            <a:endParaRPr/>
          </a:p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3810000" y="2057400"/>
            <a:ext cx="4572000" cy="1543050"/>
          </a:xfrm>
          <a:prstGeom prst="rect"/>
        </p:spPr>
        <p:txBody>
          <a:bodyPr wrap="none" lIns="0" tIns="0" rIns="0" bIns="0"/>
          <a:p>
            <a:pPr algn="ctr">
              <a:lnSpc>
                <a:spcPct val="140000"/>
              </a:lnSpc>
            </a:pPr>
            <a:r>
              <a:rPr lang="zh-CN" sz="3600" b="1">
                <a:solidFill>
                  <a:srgbClr val="FFFFFF"/>
                </a:solidFill>
                <a:latin typeface="Microsoft YaHei"/>
                <a:ea typeface="Microsoft YaHei"/>
              </a:rPr>
              <a:t>让每一份理赔病历，</a:t>
            </a:r>
            <a:endParaRPr/>
          </a:p>
          <a:p>
            <a:pPr algn="ctr">
              <a:lnSpc>
                <a:spcPct val="140000"/>
              </a:lnSpc>
            </a:pPr>
            <a:r>
              <a:rPr lang="zh-CN" sz="3600" b="1">
                <a:solidFill>
                  <a:srgbClr val="FFFFFF"/>
                </a:solidFill>
                <a:latin typeface="Microsoft YaHei"/>
                <a:ea typeface="Microsoft YaHei"/>
              </a:rPr>
              <a:t>都多一份有温度的答案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3448050" y="3905250"/>
            <a:ext cx="5295900" cy="2571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6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结构化</a:t>
            </a:r>
            <a:r>
              <a:rPr lang="en-US" sz="16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16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洞察</a:t>
            </a:r>
            <a:r>
              <a:rPr lang="en-US" sz="16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16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指引</a:t>
            </a:r>
            <a:r>
              <a:rPr lang="en-US" sz="16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16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画像</a:t>
            </a:r>
            <a:r>
              <a:rPr lang="en-US" sz="16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 —— </a:t>
            </a:r>
            <a:r>
              <a:rPr lang="zh-CN" sz="1650">
                <a:solidFill>
                  <a:srgbClr val="FFFFFF">
                    <a:alpha val="85000"/>
                  </a:srgbClr>
                </a:solidFill>
                <a:latin typeface="Microsoft YaHei"/>
                <a:ea typeface="Microsoft YaHei"/>
              </a:rPr>
              <a:t>数据可溯源，温度有依据</a:t>
            </a:r>
            <a:endParaRPr/>
          </a:p>
        </p:txBody>
      </p:sp>
      <p:sp>
        <p:nvSpPr>
          <p:cNvPr id="108" name="" descr="{&quot;isTemplate&quot;:true,&quot;type&quot;:&quot;text&quot;}"/>
          <p:cNvSpPr txBox="1"/>
          <p:nvPr/>
        </p:nvSpPr>
        <p:spPr>
          <a:xfrm rot="0" flipH="0" flipV="0">
            <a:off x="4886325" y="4619625"/>
            <a:ext cx="2419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FFFFFF">
                    <a:alpha val="60000"/>
                  </a:srgbClr>
                </a:solidFill>
                <a:latin typeface="Microsoft YaHei"/>
                <a:ea typeface="Microsoft YaHei"/>
              </a:rPr>
              <a:t>谢谢观看</a:t>
            </a:r>
            <a:r>
              <a:rPr lang="en-US" sz="1200">
                <a:solidFill>
                  <a:srgbClr val="FFFFFF">
                    <a:alpha val="60000"/>
                  </a:srgbClr>
                </a:solidFill>
                <a:latin typeface="Microsoft YaHei"/>
                <a:ea typeface="Microsoft YaHei"/>
              </a:rPr>
              <a:t> · </a:t>
            </a:r>
            <a:r>
              <a:rPr lang="zh-CN" sz="1200">
                <a:solidFill>
                  <a:srgbClr val="FFFFFF">
                    <a:alpha val="60000"/>
                  </a:srgbClr>
                </a:solidFill>
                <a:latin typeface="Microsoft YaHei"/>
                <a:ea typeface="Microsoft YaHei"/>
              </a:rPr>
              <a:t>医护洞察与温度指引引擎</a:t>
            </a:r>
            <a:endParaRPr/>
          </a:p>
        </p:txBody>
      </p:sp>
      <p:sp>
        <p:nvSpPr>
          <p:cNvPr id="109" name=""/>
          <p:cNvSpPr/>
          <p:nvPr/>
        </p:nvSpPr>
        <p:spPr>
          <a:xfrm rot="0" flipH="0" flipV="0">
            <a:off x="8572500" y="571500"/>
            <a:ext cx="2857500" cy="2857500"/>
          </a:xfrm>
          <a:custGeom>
            <a:pathLst>
              <a:path w="300" h="300">
                <a:moveTo>
                  <a:pt x="150" y="0"/>
                </a:moveTo>
                <a:lnTo>
                  <a:pt x="150" y="0"/>
                </a:lnTo>
                <a:cubicBezTo>
                  <a:pt x="233" y="0"/>
                  <a:pt x="300" y="67"/>
                  <a:pt x="300" y="150"/>
                </a:cubicBezTo>
                <a:lnTo>
                  <a:pt x="300" y="150"/>
                </a:lnTo>
                <a:cubicBezTo>
                  <a:pt x="300" y="233"/>
                  <a:pt x="233" y="300"/>
                  <a:pt x="150" y="300"/>
                </a:cubicBezTo>
                <a:lnTo>
                  <a:pt x="150" y="300"/>
                </a:lnTo>
                <a:cubicBezTo>
                  <a:pt x="67" y="300"/>
                  <a:pt x="0" y="233"/>
                  <a:pt x="0" y="150"/>
                </a:cubicBezTo>
                <a:lnTo>
                  <a:pt x="0" y="150"/>
                </a:lnTo>
                <a:cubicBezTo>
                  <a:pt x="0" y="67"/>
                  <a:pt x="67" y="0"/>
                  <a:pt x="150" y="0"/>
                </a:cubicBezTo>
                <a:close/>
              </a:path>
            </a:pathLst>
          </a:custGeom>
          <a:solidFill>
            <a:srgbClr val="FFFFFF">
              <a:alpha val="8000"/>
            </a:srgbClr>
          </a:solidFill>
          <a:ln/>
        </p:spPr>
        <p:txBody>
          <a:bodyPr/>
          <a:p>
            <a:pPr/>
            <a:endParaRPr/>
          </a:p>
        </p:txBody>
      </p:sp>
      <p:sp>
        <p:nvSpPr>
          <p:cNvPr id="110" name=""/>
          <p:cNvSpPr/>
          <p:nvPr/>
        </p:nvSpPr>
        <p:spPr>
          <a:xfrm rot="0" flipH="0" flipV="0">
            <a:off x="762000" y="4000500"/>
            <a:ext cx="2286000" cy="2286000"/>
          </a:xfrm>
          <a:custGeom>
            <a:pathLst>
              <a:path w="240" h="240">
                <a:moveTo>
                  <a:pt x="120" y="0"/>
                </a:moveTo>
                <a:lnTo>
                  <a:pt x="120" y="0"/>
                </a:lnTo>
                <a:cubicBezTo>
                  <a:pt x="186" y="0"/>
                  <a:pt x="240" y="54"/>
                  <a:pt x="240" y="120"/>
                </a:cubicBezTo>
                <a:lnTo>
                  <a:pt x="240" y="120"/>
                </a:lnTo>
                <a:cubicBezTo>
                  <a:pt x="240" y="186"/>
                  <a:pt x="186" y="240"/>
                  <a:pt x="120" y="240"/>
                </a:cubicBezTo>
                <a:lnTo>
                  <a:pt x="120" y="240"/>
                </a:lnTo>
                <a:cubicBezTo>
                  <a:pt x="54" y="240"/>
                  <a:pt x="0" y="186"/>
                  <a:pt x="0" y="120"/>
                </a:cubicBezTo>
                <a:lnTo>
                  <a:pt x="0" y="120"/>
                </a:lnTo>
                <a:cubicBezTo>
                  <a:pt x="0" y="54"/>
                  <a:pt x="54" y="0"/>
                  <a:pt x="120" y="0"/>
                </a:cubicBezTo>
                <a:close/>
              </a:path>
            </a:pathLst>
          </a:custGeom>
          <a:solidFill>
            <a:srgbClr val="FFFFFF">
              <a:alpha val="6000"/>
            </a:srgbClr>
          </a:solidFill>
          <a:ln/>
        </p:spPr>
        <p:txBody>
          <a:bodyPr/>
          <a:p>
            <a:pPr/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2026-10-13T15:24:08Z</dcterms:created>
  <dcterms:modified xsi:type="dcterms:W3CDTF">2026-10-13T15:24:08Z</dcterms:modified>
</cp:coreProperties>
</file>