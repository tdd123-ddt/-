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4" Type="http://schemas.openxmlformats.org/officeDocument/2006/relationships/presProps" Target="presProp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gt;&#10;  &lt;Box style={{ width: '1280px', height: '720px', position: 'relative', background: 'linear-gradient(135deg, #1A365D 0%, #2B6CB0 55%, #38B2AC 100%)', overflow: 'hidden' }}&gt;&#10;    {/* 背景抽象数据流装饰 */}&#10;    &lt;Box style={{ position: 'absolute', top: 40, right: 40, width: 460, height: 460, borderRadius: '50%', background: 'rgba(56,178,172,0.25)', opacity: 0.5 }} /&gt;&#10;    &lt;Box style={{ position: 'absolute', bottom: 40, left: 40, width: 520, height: 520, borderRadius: '50%', background: 'rgba(43,108,176,0.3)', opacity: 0.5 }} /&gt;&#10;    &lt;Box style={{ position: 'absolute', top: 180, right: 120, width: 280, height: 2, background: 'rgba(255,255,255,0.25)' }} /&gt;&#10;    &lt;Box style={{ position: 'absolute', top: 320, right: 60, width: 380, height: 2, background: 'rgba(255,255,255,0.18)' }} /&gt;&#10;    &lt;Box style={{ position: 'absolute', top: 260, right: 200, width: 10, height: 10, borderRadius: '50%', background: '#38B2AC' }} /&gt;&#10;    &lt;Box style={{ position: 'absolute', top: 200, right: 340, width: 6, height: 6, borderRadius: '50%', background: '#FFFFFF', opacity: 0.6 }} /&gt;&#10;&#10;    {/* 主内容 */}&#10;    &lt;Box style={{ position: 'relative', zIndex: 1, flexDirection: 'column', justifyContent: 'center', height: '100%', padding: '0 80px' }}&gt;&#10;      &lt;Text style={{ fontSize: 20, color: '#7FD1CD', letterSpacing: 4, marginBottom: 24 }}&gt;AI 编程赛 · 赛道四 课题 2&lt;/Text&gt;&#10;      &lt;Text style={{ fontSize: 64, fontWeight: 'bold', color: '#FFFFFF', lineHeight: 1.25, marginBottom: 28 }}&gt;&#10;        医护洞察与温度指引引擎&#10;      &lt;/Text&gt;&#10;      &lt;Text style={{ fontSize: 26, color: 'rgba(255,255,255,0.92)', lineHeight: 1.6, maxWidth: 720 }}&gt;&#10;        把冷冰冰的理赔病历，转译成患者&lt;Text style={{ color: '#7FD1CD', fontWeight: 'bold' }}&gt;看得懂、用得上的温度指引&lt;/Text&gt;&#10;      &lt;/Text&gt;&#10;      &lt;Box style={{ flexDirection: 'row', gap: 16, marginTop: 48 }}&gt;&#10;        &lt;Box style={{ padding: '12px 24px', borderRadius: 8, background: 'rgba(255,255,255,0.12)', border: '1px solid rgba(255,255,255,0.25)' }}&gt;&#10;          &lt;Text style={{ fontSize: 18, color: '#FFFFFF' }}&gt;结构化 · 痛点 · 指引 · 画像&lt;/Text&gt;&#10;        &lt;/Box&gt;&#10;        &lt;Box style={{ padding: '12px 24px', borderRadius: 8, background: 'rgba(255,255,255,0.12)', border: '1px solid rgba(255,255,255,0.25)' }}&gt;&#10;          &lt;Text style={{ fontSize: 18, color: '#FFFFFF' }}&gt;四模块全链路 · 数据可溯源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55000">
                <a:srgbClr val="2B6CB0"/>
              </a:gs>
              <a:gs pos="100000">
                <a:srgbClr val="38B2A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429500" y="381000"/>
            <a:ext cx="4381500" cy="4381500"/>
          </a:xfrm>
          <a:custGeom>
            <a:pathLst>
              <a:path w="460" h="460">
                <a:moveTo>
                  <a:pt x="230" y="0"/>
                </a:moveTo>
                <a:lnTo>
                  <a:pt x="230" y="0"/>
                </a:lnTo>
                <a:cubicBezTo>
                  <a:pt x="357" y="0"/>
                  <a:pt x="460" y="103"/>
                  <a:pt x="460" y="230"/>
                </a:cubicBezTo>
                <a:lnTo>
                  <a:pt x="460" y="230"/>
                </a:lnTo>
                <a:cubicBezTo>
                  <a:pt x="460" y="357"/>
                  <a:pt x="357" y="460"/>
                  <a:pt x="230" y="460"/>
                </a:cubicBezTo>
                <a:lnTo>
                  <a:pt x="230" y="460"/>
                </a:lnTo>
                <a:cubicBezTo>
                  <a:pt x="103" y="460"/>
                  <a:pt x="0" y="357"/>
                  <a:pt x="0" y="230"/>
                </a:cubicBezTo>
                <a:lnTo>
                  <a:pt x="0" y="230"/>
                </a:lnTo>
                <a:cubicBezTo>
                  <a:pt x="0" y="103"/>
                  <a:pt x="103" y="0"/>
                  <a:pt x="230" y="0"/>
                </a:cubicBezTo>
                <a:close/>
              </a:path>
            </a:pathLst>
          </a:custGeom>
          <a:solidFill>
            <a:srgbClr val="38B2AC">
              <a:alpha val="125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" y="1524000"/>
            <a:ext cx="4953000" cy="4953000"/>
          </a:xfrm>
          <a:custGeom>
            <a:pathLst>
              <a:path w="520" h="520">
                <a:moveTo>
                  <a:pt x="260" y="0"/>
                </a:moveTo>
                <a:lnTo>
                  <a:pt x="260" y="0"/>
                </a:lnTo>
                <a:cubicBezTo>
                  <a:pt x="403" y="0"/>
                  <a:pt x="520" y="117"/>
                  <a:pt x="520" y="260"/>
                </a:cubicBezTo>
                <a:lnTo>
                  <a:pt x="520" y="260"/>
                </a:lnTo>
                <a:cubicBezTo>
                  <a:pt x="520" y="403"/>
                  <a:pt x="403" y="520"/>
                  <a:pt x="260" y="520"/>
                </a:cubicBezTo>
                <a:lnTo>
                  <a:pt x="260" y="520"/>
                </a:lnTo>
                <a:cubicBezTo>
                  <a:pt x="117" y="520"/>
                  <a:pt x="0" y="403"/>
                  <a:pt x="0" y="260"/>
                </a:cubicBez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solidFill>
            <a:srgbClr val="2B6CB0">
              <a:alpha val="15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0" y="1714500"/>
            <a:ext cx="266700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001000" y="3048000"/>
            <a:ext cx="361950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10191750" y="2476500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8896350" y="1905000"/>
            <a:ext cx="57150" cy="57150"/>
          </a:xfrm>
          <a:custGeom>
            <a:pathLst>
              <a:path w="6" h="6">
                <a:moveTo>
                  <a:pt x="3" y="0"/>
                </a:moveTo>
                <a:lnTo>
                  <a:pt x="3" y="0"/>
                </a:lnTo>
                <a:cubicBezTo>
                  <a:pt x="5" y="0"/>
                  <a:pt x="6" y="1"/>
                  <a:pt x="6" y="3"/>
                </a:cubicBezTo>
                <a:lnTo>
                  <a:pt x="6" y="3"/>
                </a:lnTo>
                <a:cubicBezTo>
                  <a:pt x="6" y="5"/>
                  <a:pt x="5" y="6"/>
                  <a:pt x="3" y="6"/>
                </a:cubicBezTo>
                <a:lnTo>
                  <a:pt x="3" y="6"/>
                </a:lnTo>
                <a:cubicBezTo>
                  <a:pt x="1" y="6"/>
                  <a:pt x="0" y="5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7FD1CD"/>
                </a:solidFill>
                <a:latin typeface="Microsoft YaHei"/>
                <a:ea typeface="Microsoft YaHei"/>
              </a:rPr>
              <a:t>AI </a:t>
            </a:r>
            <a:r>
              <a:rPr lang="zh-CN" sz="1500" spc="300">
                <a:solidFill>
                  <a:srgbClr val="7FD1CD"/>
                </a:solidFill>
                <a:latin typeface="Microsoft YaHei"/>
                <a:ea typeface="Microsoft YaHei"/>
              </a:rPr>
              <a:t>编程赛</a:t>
            </a:r>
            <a:r>
              <a:rPr lang="en-US" sz="1500" spc="300">
                <a:solidFill>
                  <a:srgbClr val="7FD1CD"/>
                </a:solidFill>
                <a:latin typeface="Microsoft YaHei"/>
                <a:ea typeface="Microsoft YaHei"/>
              </a:rPr>
              <a:t> · </a:t>
            </a:r>
            <a:r>
              <a:rPr lang="zh-CN" sz="1500" spc="300">
                <a:solidFill>
                  <a:srgbClr val="7FD1CD"/>
                </a:solidFill>
                <a:latin typeface="Microsoft YaHei"/>
                <a:ea typeface="Microsoft YaHei"/>
              </a:rPr>
              <a:t>赛道四</a:t>
            </a:r>
            <a:r>
              <a:rPr lang="en-US" sz="1500" spc="300">
                <a:solidFill>
                  <a:srgbClr val="7FD1CD"/>
                </a:solidFill>
                <a:latin typeface="Microsoft YaHei"/>
                <a:ea typeface="Microsoft YaHei"/>
              </a:rPr>
              <a:t> </a:t>
            </a:r>
            <a:r>
              <a:rPr lang="zh-CN" sz="1500" spc="300">
                <a:solidFill>
                  <a:srgbClr val="7FD1CD"/>
                </a:solidFill>
                <a:latin typeface="Microsoft YaHei"/>
                <a:ea typeface="Microsoft YaHei"/>
              </a:rPr>
              <a:t>课题</a:t>
            </a:r>
            <a:r>
              <a:rPr lang="en-US" sz="1500" spc="300">
                <a:solidFill>
                  <a:srgbClr val="7FD1CD"/>
                </a:solidFill>
                <a:latin typeface="Microsoft YaHei"/>
                <a:ea typeface="Microsoft YaHei"/>
              </a:rPr>
              <a:t> 2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10668000" cy="9144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3562350"/>
            <a:ext cx="68580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把冷冰冰的理赔病历，转译成患者</a:t>
            </a:r>
            <a:r>
              <a:rPr lang="zh-CN" sz="19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看得懂、用得上的温度指引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4495800"/>
            <a:ext cx="2428875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90600" y="4610100"/>
            <a:ext cx="1971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结构化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指引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画像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3343275" y="4495800"/>
            <a:ext cx="2486025" cy="438150"/>
          </a:xfrm>
          <a:prstGeom prst="roundRect">
            <a:avLst>
              <a:gd name="adj" fmla="val 173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571875" y="4610100"/>
            <a:ext cx="2028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四模块全链路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数据可溯源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&gt;&#10;  &lt;Box style={{ width: '1280px', height: '720px', background: '#F7FAFC', flexDirection: 'column', padding: '60px 80px' }}&gt;&#10;    &lt;Box style={{ flexDirection: 'row', alignItems: 'baseline', marginBottom: 48 }}&gt;&#10;      &lt;Text style={{ fontSize: 36, fontWeight: 'bold', color: '#1A365D' }}&gt;目录&lt;/Text&gt;&#10;      &lt;Text style={{ fontSize: 18, color: '#718096', marginLeft: 16 }}&gt;CONTENTS&lt;/Text&gt;&#10;    &lt;/Box&gt;&#10;&#10;    &lt;Box style={{ flexDirection: 'row', gap: 32, flex: 1 }}&gt;&#10;      {[&#10;        { no: '01', title: '定位与架构', desc: '一句话定位与四模块全链路架构，以及 OCR + LLM + 规则的三层技术路线' },&#10;        { no: '02', title: '效果验证', desc: 'KR1 结构化硬指标、温度指引盲评、品质画像维度，全部用官方 70 案实测数字说话' },&#10;        { no: '03', title: '落地与合规', desc: '三条触达路径、反馈闭环，以及数据合规与 AI 原生度自证' },&#10;      ].map((item, idx) =&gt; (&#10;        &lt;Box key={idx} style={{ flex: 1, borderRadius: 16, background: '#FFFFFF', padding: 40, flexDirection: 'column', boxShadow: '0 4px 20px rgba(0,0,0,0.06)', border: '1px solid #E2E8F0' }}&gt;&#10;          &lt;Text style={{ fontSize: 64, fontWeight: 'bold', color: '#38B2AC', lineHeight: 1 }}&gt;{item.no}&lt;/Text&gt;&#10;          &lt;Text style={{ fontSize: 28, fontWeight: 'bold', color: '#1A365D', marginTop: 20, marginBottom: 16 }}&gt;{item.title}&lt;/Text&gt;&#10;          &lt;Text style={{ fontSize: 20, color: '#4A5568', lineHeight: 1.6 }}&gt;{item.desc}&lt;/Text&gt;&#10;        &lt;/Box&gt;&#10;      ))}&#10;    &lt;/Box&gt;&#10;&#10;    &lt;Box style={{ flexDirection: 'row', alignItems: 'center', marginTop: 28 }}&gt;&#10;      &lt;Text style={{ fontSize: 14, color: '#718096' }}&gt;医护洞察与温度指引引擎&lt;/Text&gt;&#10;      &lt;Text style={{ fontSize: 14, color: '#718096', marginLeft: 'auto' }}&gt;02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685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365D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600200" y="571500"/>
            <a:ext cx="9239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62000" y="1447800"/>
            <a:ext cx="3352800" cy="441007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43000" y="1828800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8B2A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43000" y="2752725"/>
            <a:ext cx="2590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365D"/>
                </a:solidFill>
                <a:latin typeface="Microsoft YaHei"/>
                <a:ea typeface="Microsoft YaHei"/>
              </a:rPr>
              <a:t>定位与架构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43000" y="3228975"/>
            <a:ext cx="2590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一句话定位与四模块全链路架构，以及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OCR + LLM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规则的三层技术路线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419600" y="1447800"/>
            <a:ext cx="3352800" cy="441007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800600" y="1828800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8B2A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800600" y="2752725"/>
            <a:ext cx="2590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365D"/>
                </a:solidFill>
                <a:latin typeface="Microsoft YaHei"/>
                <a:ea typeface="Microsoft YaHei"/>
              </a:rPr>
              <a:t>效果验证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25908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KR1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结构化硬指标、温度指引盲评、品质画像维度，全部用官方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70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案实测数字说话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077200" y="1447800"/>
            <a:ext cx="3352800" cy="441007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458200" y="1828800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8B2A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458200" y="2752725"/>
            <a:ext cx="2590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365D"/>
                </a:solidFill>
                <a:latin typeface="Microsoft YaHei"/>
                <a:ea typeface="Microsoft YaHei"/>
              </a:rPr>
              <a:t>落地与合规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458200" y="3228975"/>
            <a:ext cx="259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三条触达路径、反馈闭环，以及数据合规与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原生度自证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62000" y="6124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972800" y="6124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&gt;&#10;  &lt;Box style={{ width: '1280px', height: '720px', position: 'relative', background: 'linear-gradient(135deg, #2B6CB0 0%, #38B2AC 100%)', flexDirection: 'column', justifyContent: 'center', alignItems: 'center' }}&gt;&#10;    &lt;Box style={{ position: 'absolute', top: 80, right: 100, width: 320, height: 320, borderRadius: '50%', background: 'rgba(255,255,255,0.1)' }} /&gt;&#10;    &lt;Box style={{ position: 'absolute', bottom: 60, left: 80, width: 260, height: 260, borderRadius: '50%', background: 'rgba(255,255,255,0.08)' }} /&gt;&#10;    &lt;Text style={{ fontSize: 24, color: 'rgba(255,255,255,0.85)', letterSpacing: 6, marginBottom: 24 }}&gt;CHAPTER 01&lt;/Text&gt;&#10;    &lt;Text style={{ fontSize: 60, fontWeight: 'bold', color: '#FFFFFF', marginBottom: 20 }}&gt;定位与架构&lt;/Text&gt;&#10;    &lt;Text style={{ fontSize: 22, color: 'rgba(255,255,255,0.9)' }}&gt;为什么做 · 怎么做 · 用什么技术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6CB0"/>
              </a:gs>
              <a:gs pos="100000">
                <a:srgbClr val="38B2A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124450" y="2609850"/>
            <a:ext cx="1952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4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667250" y="3114675"/>
            <a:ext cx="2857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定位与架构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667250" y="3990975"/>
            <a:ext cx="2867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为什么做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怎么做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用什么技术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191500" y="762000"/>
            <a:ext cx="3048000" cy="3048000"/>
          </a:xfrm>
          <a:custGeom>
            <a:pathLst>
              <a:path w="320" h="320">
                <a:moveTo>
                  <a:pt x="160" y="0"/>
                </a:moveTo>
                <a:lnTo>
                  <a:pt x="160" y="0"/>
                </a:lnTo>
                <a:cubicBezTo>
                  <a:pt x="248" y="0"/>
                  <a:pt x="320" y="72"/>
                  <a:pt x="320" y="160"/>
                </a:cubicBezTo>
                <a:lnTo>
                  <a:pt x="320" y="160"/>
                </a:lnTo>
                <a:cubicBezTo>
                  <a:pt x="320" y="248"/>
                  <a:pt x="248" y="320"/>
                  <a:pt x="160" y="320"/>
                </a:cubicBezTo>
                <a:lnTo>
                  <a:pt x="160" y="320"/>
                </a:lnTo>
                <a:cubicBezTo>
                  <a:pt x="72" y="320"/>
                  <a:pt x="0" y="248"/>
                  <a:pt x="0" y="160"/>
                </a:cubicBezTo>
                <a:lnTo>
                  <a:pt x="0" y="160"/>
                </a:lnTo>
                <a:cubicBezTo>
                  <a:pt x="0" y="72"/>
                  <a:pt x="72" y="0"/>
                  <a:pt x="16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62000" y="3810000"/>
            <a:ext cx="2476500" cy="2476500"/>
          </a:xfrm>
          <a:custGeom>
            <a:pathLst>
              <a:path w="260" h="260">
                <a:moveTo>
                  <a:pt x="130" y="0"/>
                </a:moveTo>
                <a:lnTo>
                  <a:pt x="130" y="0"/>
                </a:lnTo>
                <a:cubicBezTo>
                  <a:pt x="202" y="0"/>
                  <a:pt x="260" y="58"/>
                  <a:pt x="260" y="130"/>
                </a:cubicBezTo>
                <a:lnTo>
                  <a:pt x="260" y="130"/>
                </a:lnTo>
                <a:cubicBezTo>
                  <a:pt x="260" y="202"/>
                  <a:pt x="202" y="260"/>
                  <a:pt x="130" y="260"/>
                </a:cubicBezTo>
                <a:lnTo>
                  <a:pt x="130" y="260"/>
                </a:lnTo>
                <a:cubicBezTo>
                  <a:pt x="58" y="260"/>
                  <a:pt x="0" y="202"/>
                  <a:pt x="0" y="130"/>
                </a:cubicBezTo>
                <a:lnTo>
                  <a:pt x="0" y="130"/>
                </a:lnTo>
                <a:cubicBezTo>
                  <a:pt x="0" y="58"/>
                  <a:pt x="58" y="0"/>
                  <a:pt x="13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&gt;&#10;  &lt;Box style={{ width: '1280px', height: '720px', background: '#FFFFFF', flexDirection: 'column', padding: '40px 70px' }}&gt;&#10;    &lt;Box style={{ flexDirection: 'row', alignItems: 'baseline', marginBottom: 32 }}&gt;&#10;      &lt;Text style={{ fontSize: 34, fontWeight: 'bold', color: '#1A365D' }}&gt;四模块全链路&lt;/Text&gt;&#10;      &lt;Text style={{ fontSize: 18, color: '#718096', marginLeft: 14 }}&gt;不止结构化，是理赔后的全流程增值&lt;/Text&gt;&#10;    &lt;/Box&gt;&#10;&#10;    &lt;Box style={{ flexDirection: 'row', gap: 28, flex: 1 }}&gt;&#10;      {/* 左侧流程主视觉 */}&#10;      &lt;Box style={{ flex: 1.1, borderRadius: 16, background: '#F7FAFC', padding: 32, flexDirection: 'column', justifyContent: 'center', border: '1px solid #E2E8F0' }}&gt;&#10;        &lt;Text style={{ fontSize: 18, color: '#718096', marginBottom: 20 }}&gt;数据流&lt;/Text&gt;&#10;        {[&#10;          { no: 'a', name: '病历结构化', en: 'OCR + LLM + 规则', color: '#2B6CB0' },&#10;          { no: 'b', name: '就医痛点', en: '规则 + LLM 语义', color: '#2B6CB0' },&#10;          { no: 'c', name: '温度指引', en: '个性化信笺', color: '#38B2AC' },&#10;          { no: 'd', name: '品质画像', en: '聚合 + 推荐', color: '#38B2AC' },&#10;        ].map((m, idx) =&gt; (&#10;          &lt;Box key={idx} style={{ flexDirection: 'row', alignItems: 'center', marginBottom: idx === 3 ? 0 : 20 }}&gt;&#10;            &lt;Box style={{ width: 44, height: 44, borderRadius: '50%', background: m.color, alignItems: 'center', justifyContent: 'center', marginRight: 16 }}&gt;&#10;              &lt;Text style={{ fontSize: 20, fontWeight: 'bold', color: '#FFFFFF' }}&gt;{m.no}&lt;/Text&gt;&#10;            &lt;/Box&gt;&#10;            &lt;Box style={{ flex: 1 }}&gt;&#10;              &lt;Text style={{ fontSize: 22, fontWeight: 'bold', color: '#1A365D' }}&gt;{m.name}&lt;/Text&gt;&#10;              &lt;Text style={{ fontSize: 16, color: '#718096' }}&gt;{m.en}&lt;/Text&gt;&#10;            &lt;/Box&gt;&#10;            {idx &lt; 3 &amp;&amp; &lt;Text style={{ fontSize: 24, color: '#CBD5E0', marginLeft: 8 }}&gt;↓&lt;/Text&gt;}&#10;          &lt;/Box&gt;&#10;        ))}&#10;      &lt;/Box&gt;&#10;&#10;      {/* 右侧说明 */}&#10;      &lt;Box style={{ flex: 1, flexDirection: 'column', justifyContent: 'center', gap: 20 }}&gt;&#10;        &lt;Box style={{ padding: 24, borderRadius: 12, background: '#EBF8FF', border: '1px solid #BEE3F8' }}&gt;&#10;          &lt;Text style={{ fontSize: 20, fontWeight: 'bold', color: '#2B6CB0', marginBottom: 10 }}&gt;核赔之外的增值&lt;/Text&gt;&#10;          &lt;Text style={{ fontSize: 18, color: '#2C5282', lineHeight: 1.6 }}&gt;传统理赔里，病历只用于核赔，患者拿到的是&quot;已结案&quot;。本引擎在理赔完成后，把病历转成一份&quot;人话版&quot;就医复盘与后续关怀。&lt;/Text&gt;&#10;        &lt;/Box&gt;&#10;        &lt;Box style={{ padding: 24, borderRadius: 12, background: '#E6FFFA', border: '1px solid #B2F5EA' }}&gt;&#10;          &lt;Text style={{ fontSize: 20, fontWeight: 'bold', color: '#2C7A7B', marginBottom: 10 }}&gt;四模块职责清晰&lt;/Text&gt;&#10;          &lt;Text style={{ fontSize: 18, color: '#234E52', lineHeight: 1.6 }}&gt;a 结构化 → b 洞察痛点 → c 生成指引 → d 沉淀画像，层层递进，每个模块的输出都带证据溯源。&lt;/Text&gt;&#10;        &lt;/Box&gt;&#10;      &lt;/Box&gt;&#10;    &lt;/Box&gt;&#10;&#10;    &lt;Box style={{ flexDirection: 'row', alignItems: 'center', marginTop: 24 }}&gt;&#10;      &lt;Text style={{ fontSize: 14, color: '#718096' }}&gt;医护洞察与温度指引引擎&lt;/Text&gt;&#10;      &lt;Text style={{ fontSize: 14, color: '#718096', marginLeft: 'auto' }}&gt;04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四模块全链路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743200" y="381000"/>
            <a:ext cx="274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不止结构化，是理赔后的全流程增值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66750" y="1076325"/>
            <a:ext cx="5543550" cy="5010150"/>
          </a:xfrm>
          <a:prstGeom prst="roundRect">
            <a:avLst>
              <a:gd name="adj" fmla="val 3042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71550" y="2200275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数据流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971550" y="2619375"/>
            <a:ext cx="419100" cy="419100"/>
          </a:xfrm>
          <a:custGeom>
            <a:pathLst>
              <a:path w="44" h="44">
                <a:moveTo>
                  <a:pt x="22" y="0"/>
                </a:moveTo>
                <a:lnTo>
                  <a:pt x="22" y="0"/>
                </a:lnTo>
                <a:cubicBezTo>
                  <a:pt x="34" y="0"/>
                  <a:pt x="44" y="10"/>
                  <a:pt x="44" y="22"/>
                </a:cubicBezTo>
                <a:lnTo>
                  <a:pt x="44" y="22"/>
                </a:lnTo>
                <a:cubicBezTo>
                  <a:pt x="44" y="34"/>
                  <a:pt x="34" y="44"/>
                  <a:pt x="22" y="44"/>
                </a:cubicBezTo>
                <a:lnTo>
                  <a:pt x="22" y="44"/>
                </a:lnTo>
                <a:cubicBezTo>
                  <a:pt x="10" y="44"/>
                  <a:pt x="0" y="34"/>
                  <a:pt x="0" y="22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23950" y="27146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543050" y="2600325"/>
            <a:ext cx="417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病历结构化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543050" y="2857500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OCR + LLM + </a:t>
            </a: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规则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91200" y="268605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D5E0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971550" y="3257550"/>
            <a:ext cx="419100" cy="419100"/>
          </a:xfrm>
          <a:custGeom>
            <a:pathLst>
              <a:path w="44" h="44">
                <a:moveTo>
                  <a:pt x="22" y="0"/>
                </a:moveTo>
                <a:lnTo>
                  <a:pt x="22" y="0"/>
                </a:lnTo>
                <a:cubicBezTo>
                  <a:pt x="34" y="0"/>
                  <a:pt x="44" y="10"/>
                  <a:pt x="44" y="22"/>
                </a:cubicBezTo>
                <a:lnTo>
                  <a:pt x="44" y="22"/>
                </a:lnTo>
                <a:cubicBezTo>
                  <a:pt x="44" y="34"/>
                  <a:pt x="34" y="44"/>
                  <a:pt x="22" y="44"/>
                </a:cubicBezTo>
                <a:lnTo>
                  <a:pt x="22" y="44"/>
                </a:lnTo>
                <a:cubicBezTo>
                  <a:pt x="10" y="44"/>
                  <a:pt x="0" y="34"/>
                  <a:pt x="0" y="22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14425" y="335280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543050" y="3238500"/>
            <a:ext cx="417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就医痛点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543050" y="3495675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规则</a:t>
            </a: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 + LLM </a:t>
            </a: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语义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91200" y="332422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D5E0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971550" y="3895725"/>
            <a:ext cx="419100" cy="419100"/>
          </a:xfrm>
          <a:custGeom>
            <a:pathLst>
              <a:path w="44" h="44">
                <a:moveTo>
                  <a:pt x="22" y="0"/>
                </a:moveTo>
                <a:lnTo>
                  <a:pt x="22" y="0"/>
                </a:lnTo>
                <a:cubicBezTo>
                  <a:pt x="34" y="0"/>
                  <a:pt x="44" y="10"/>
                  <a:pt x="44" y="22"/>
                </a:cubicBezTo>
                <a:lnTo>
                  <a:pt x="44" y="22"/>
                </a:lnTo>
                <a:cubicBezTo>
                  <a:pt x="44" y="34"/>
                  <a:pt x="34" y="44"/>
                  <a:pt x="22" y="44"/>
                </a:cubicBezTo>
                <a:lnTo>
                  <a:pt x="22" y="44"/>
                </a:lnTo>
                <a:cubicBezTo>
                  <a:pt x="10" y="44"/>
                  <a:pt x="0" y="34"/>
                  <a:pt x="0" y="22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33475" y="3990975"/>
            <a:ext cx="104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543050" y="3876675"/>
            <a:ext cx="417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温度指引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543050" y="4133850"/>
            <a:ext cx="417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个性化信笺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91200" y="39624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D5E0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71550" y="4533900"/>
            <a:ext cx="419100" cy="419100"/>
          </a:xfrm>
          <a:custGeom>
            <a:pathLst>
              <a:path w="44" h="44">
                <a:moveTo>
                  <a:pt x="22" y="0"/>
                </a:moveTo>
                <a:lnTo>
                  <a:pt x="22" y="0"/>
                </a:lnTo>
                <a:cubicBezTo>
                  <a:pt x="34" y="0"/>
                  <a:pt x="44" y="10"/>
                  <a:pt x="44" y="22"/>
                </a:cubicBezTo>
                <a:lnTo>
                  <a:pt x="44" y="22"/>
                </a:lnTo>
                <a:cubicBezTo>
                  <a:pt x="44" y="34"/>
                  <a:pt x="34" y="44"/>
                  <a:pt x="22" y="44"/>
                </a:cubicBezTo>
                <a:lnTo>
                  <a:pt x="22" y="44"/>
                </a:lnTo>
                <a:cubicBezTo>
                  <a:pt x="10" y="44"/>
                  <a:pt x="0" y="34"/>
                  <a:pt x="0" y="22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14425" y="46291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43050" y="4514850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品质画像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543050" y="4772025"/>
            <a:ext cx="436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聚合</a:t>
            </a: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推荐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477000" y="1876425"/>
            <a:ext cx="5048250" cy="1771650"/>
          </a:xfrm>
          <a:prstGeom prst="roundRect">
            <a:avLst>
              <a:gd name="adj" fmla="val 6452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705600" y="2105025"/>
            <a:ext cx="459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B6CB0"/>
                </a:solidFill>
                <a:latin typeface="Microsoft YaHei"/>
                <a:ea typeface="Microsoft YaHei"/>
              </a:rPr>
              <a:t>核赔之外的增值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705600" y="2428875"/>
            <a:ext cx="459105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传统理赔里，病历只用于核赔，患者拿到的是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已结案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。本引擎在理赔完成后，把病历转成一份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人话版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就医复盘与后续关怀。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477000" y="3838575"/>
            <a:ext cx="5048250" cy="1447800"/>
          </a:xfrm>
          <a:prstGeom prst="roundRect">
            <a:avLst>
              <a:gd name="adj" fmla="val 7895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705600" y="4067175"/>
            <a:ext cx="459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C7A7B"/>
                </a:solidFill>
                <a:latin typeface="Microsoft YaHei"/>
                <a:ea typeface="Microsoft YaHei"/>
              </a:rPr>
              <a:t>四模块职责清晰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705600" y="4391025"/>
            <a:ext cx="4591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234E52"/>
                </a:solidFill>
                <a:latin typeface="Microsoft YaHei"/>
                <a:ea typeface="Microsoft YaHei"/>
              </a:rPr>
              <a:t>a </a:t>
            </a:r>
            <a:r>
              <a:rPr lang="zh-CN" sz="1350">
                <a:solidFill>
                  <a:srgbClr val="234E52"/>
                </a:solidFill>
                <a:latin typeface="Microsoft YaHei"/>
                <a:ea typeface="Microsoft YaHei"/>
              </a:rPr>
              <a:t>结构化</a:t>
            </a:r>
            <a:r>
              <a:rPr lang="en-US" sz="1350">
                <a:solidFill>
                  <a:srgbClr val="234E52"/>
                </a:solidFill>
                <a:latin typeface="Microsoft YaHei"/>
                <a:ea typeface="Microsoft YaHei"/>
              </a:rPr>
              <a:t> → b </a:t>
            </a:r>
            <a:r>
              <a:rPr lang="zh-CN" sz="1350">
                <a:solidFill>
                  <a:srgbClr val="234E52"/>
                </a:solidFill>
                <a:latin typeface="Microsoft YaHei"/>
                <a:ea typeface="Microsoft YaHei"/>
              </a:rPr>
              <a:t>洞察痛点</a:t>
            </a:r>
            <a:r>
              <a:rPr lang="en-US" sz="1350">
                <a:solidFill>
                  <a:srgbClr val="234E52"/>
                </a:solidFill>
                <a:latin typeface="Microsoft YaHei"/>
                <a:ea typeface="Microsoft YaHei"/>
              </a:rPr>
              <a:t> → c </a:t>
            </a:r>
            <a:r>
              <a:rPr lang="zh-CN" sz="1350">
                <a:solidFill>
                  <a:srgbClr val="234E52"/>
                </a:solidFill>
                <a:latin typeface="Microsoft YaHei"/>
                <a:ea typeface="Microsoft YaHei"/>
              </a:rPr>
              <a:t>生成指引</a:t>
            </a:r>
            <a:r>
              <a:rPr lang="en-US" sz="1350">
                <a:solidFill>
                  <a:srgbClr val="234E52"/>
                </a:solidFill>
                <a:latin typeface="Microsoft YaHei"/>
                <a:ea typeface="Microsoft YaHei"/>
              </a:rPr>
              <a:t> → d </a:t>
            </a:r>
            <a:r>
              <a:rPr lang="zh-CN" sz="1350">
                <a:solidFill>
                  <a:srgbClr val="234E52"/>
                </a:solidFill>
                <a:latin typeface="Microsoft YaHei"/>
                <a:ea typeface="Microsoft YaHei"/>
              </a:rPr>
              <a:t>沉淀画像，层层递进，每个模块的输出都带证据溯源。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3" name="" descr="&lt;Slide&gt;&#10;  &lt;Box style={{ width: '1280px', height: '720px', background: '#FFFFFF', flexDirection: 'column', padding: '40px 70px' }}&gt;&#10;    &lt;Box style={{ flexDirection: 'row', alignItems: 'baseline', marginBottom: 32 }}&gt;&#10;      &lt;Text style={{ fontSize: 34, fontWeight: 'bold', color: '#1A365D' }}&gt;三层抽取技术路线&lt;/Text&gt;&#10;      &lt;Text style={{ fontSize: 18, color: '#718096', marginLeft: 14 }}&gt;半结构化字段规则优先，语义字段 LLM&lt;/Text&gt;&#10;    &lt;/Box&gt;&#10;&#10;    &lt;Box style={{ flexDirection: 'row', gap: 28, flex: 1 }}&gt;&#10;      {/* 左：三层说明 */}&#10;      &lt;Box style={{ flex: 0.9, flexDirection: 'column', gap: 20, justifyContent: 'center' }}&gt;&#10;        {[&#10;          { t: 'OCR 层', d: 'RapidOCR 本地推理，病历图片 → 文本，兼容票据/表格/印章版式', c: '#2B6CB0' },&#10;          { t: 'LLM 结构化层', d: 'DeepSeek 抽取 schema 约束 JSON，temperature=0 确定性抽取', c: '#2B6CB0' },&#10;          { t: '规则兜底层', d: '费用求和、日期、医保分类等确定性字段，规则优先、LLM 补缺', c: '#38B2AC' },&#10;        ].map((item, idx) =&gt; (&#10;          &lt;Box key={idx} style={{ flexDirection: 'row', alignItems: 'flex-start' }}&gt;&#10;            &lt;Box style={{ width: 8, height: 8, borderRadius: '50%', background: item.c, marginTop: 10, marginRight: 16 }} /&gt;&#10;            &lt;Box&gt;&#10;              &lt;Text style={{ fontSize: 22, fontWeight: 'bold', color: '#1A365D', marginBottom: 6 }}&gt;{item.t}&lt;/Text&gt;&#10;              &lt;Text style={{ fontSize: 18, color: '#4A5568', lineHeight: 1.6 }}&gt;{item.d}&lt;/Text&gt;&#10;            &lt;/Box&gt;&#10;          &lt;/Box&gt;&#10;        ))}&#10;      &lt;/Box&gt;&#10;&#10;      {/* 右：架构决策 */}&#10;      &lt;Box style={{ flex: 1.1, borderRadius: 16, background: 'linear-gradient(135deg, #1A365D 0%, #2B6CB0 100%)', padding: 36, flexDirection: 'column', justifyContent: 'center' }}&gt;&#10;        &lt;Text style={{ fontSize: 22, fontWeight: 'bold', color: '#7FD1CD', marginBottom: 20 }}&gt;实测驱动的架构决策&lt;/Text&gt;&#10;        &lt;Text style={{ fontSize: 20, color: '#FFFFFF', lineHeight: 1.7, marginBottom: 24 }}&gt;&#10;          费用清单是逐行明细、无总额行，LLM 无法对 262 行明细求和——这是从 70 案实测中得出的结论。&#10;        &lt;/Text&gt;&#10;        &lt;Box style={{ padding: '16px 20px', borderRadius: 10, background: 'rgba(255,255,255,0.1)' }}&gt;&#10;          &lt;Text style={{ fontSize: 20, color: '#FFFFFF', fontWeight: 'bold' }}&gt;→ 半结构化字段用规则，语义字段用 LLM&lt;/Text&gt;&#10;        &lt;/Box&gt;&#10;      &lt;/Box&gt;&#10;    &lt;/Box&gt;&#10;&#10;    &lt;Box style={{ flexDirection: 'row', alignItems: 'center', marginTop: 24 }}&gt;&#10;      &lt;Text style={{ fontSize: 14, color: '#718096' }}&gt;医护洞察与温度指引引擎&lt;/Text&gt;&#10;      &lt;Text style={{ fontSize: 14, color: '#718096', marginLeft: 'auto' }}&gt;05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三层抽取技术路线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390900" y="381000"/>
            <a:ext cx="2971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半结构化字段规则优先，语义字段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LLM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66750" y="20193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95350" y="192405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365D"/>
                </a:solidFill>
                <a:latin typeface="Microsoft YaHei"/>
                <a:ea typeface="Microsoft YaHei"/>
              </a:rPr>
              <a:t>OCR </a:t>
            </a: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95350" y="2238375"/>
            <a:ext cx="4533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RapidOCR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本地推理，病历图片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文本，兼容票据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表格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印章版式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66750" y="319087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95350" y="3095625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365D"/>
                </a:solidFill>
                <a:latin typeface="Microsoft YaHei"/>
                <a:ea typeface="Microsoft YaHei"/>
              </a:rPr>
              <a:t>LLM </a:t>
            </a: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结构化层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95350" y="3409950"/>
            <a:ext cx="4533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DeepSeek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抽取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schema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约束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JSON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temperature=0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确定性抽取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66750" y="436245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95350" y="4267200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规则兜底层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95350" y="4581525"/>
            <a:ext cx="4533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费用求和、日期、医保分类等确定性字段，规则优先、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LLM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补缺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695950" y="1076325"/>
            <a:ext cx="5829300" cy="5010150"/>
          </a:xfrm>
          <a:prstGeom prst="roundRect">
            <a:avLst>
              <a:gd name="adj" fmla="val 3042"/>
            </a:avLst>
          </a:prstGeom>
          <a:gradFill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38850" y="2590800"/>
            <a:ext cx="514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7FD1CD"/>
                </a:solidFill>
                <a:latin typeface="Microsoft YaHei"/>
                <a:ea typeface="Microsoft YaHei"/>
              </a:rPr>
              <a:t>实测驱动的架构决策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38850" y="3038475"/>
            <a:ext cx="5143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费用清单是逐行明细、无总额行，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LLM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无法对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262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行明细求和——这是从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70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案实测中得出的结论。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38850" y="4048125"/>
            <a:ext cx="5143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229350" y="420052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半结构化字段用规则，语义字段用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LLM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&gt;&#10;  &lt;Box style={{ width: '1280px', height: '720px', position: 'relative', background: 'linear-gradient(135deg, #2B6CB0 0%, #38B2AC 100%)', flexDirection: 'column', justifyContent: 'center', alignItems: 'center' }}&gt;&#10;    &lt;Box style={{ position: 'absolute', top: 80, right: 100, width: 320, height: 320, borderRadius: '50%', background: 'rgba(255,255,255,0.1)' }} /&gt;&#10;    &lt;Box style={{ position: 'absolute', bottom: 60, left: 80, width: 260, height: 260, borderRadius: '50%', background: 'rgba(255,255,255,0.08)' }} /&gt;&#10;    &lt;Text style={{ fontSize: 24, color: 'rgba(255,255,255,0.85)', letterSpacing: 6, marginBottom: 24 }}&gt;CHAPTER 02&lt;/Text&gt;&#10;    &lt;Text style={{ fontSize: 60, fontWeight: 'bold', color: '#FFFFFF', marginBottom: 20 }}&gt;效果验证&lt;/Text&gt;&#10;    &lt;Text style={{ fontSize: 22, color: 'rgba(255,255,255,0.9)' }}&gt;官方 70 案实测 · 硬指标说话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6CB0"/>
              </a:gs>
              <a:gs pos="100000">
                <a:srgbClr val="38B2A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124450" y="2609850"/>
            <a:ext cx="1952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4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953000" y="3114675"/>
            <a:ext cx="22860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效果验证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772025" y="3990975"/>
            <a:ext cx="2647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官方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70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案实测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硬指标说话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191500" y="762000"/>
            <a:ext cx="3048000" cy="3048000"/>
          </a:xfrm>
          <a:custGeom>
            <a:pathLst>
              <a:path w="320" h="320">
                <a:moveTo>
                  <a:pt x="160" y="0"/>
                </a:moveTo>
                <a:lnTo>
                  <a:pt x="160" y="0"/>
                </a:lnTo>
                <a:cubicBezTo>
                  <a:pt x="248" y="0"/>
                  <a:pt x="320" y="72"/>
                  <a:pt x="320" y="160"/>
                </a:cubicBezTo>
                <a:lnTo>
                  <a:pt x="320" y="160"/>
                </a:lnTo>
                <a:cubicBezTo>
                  <a:pt x="320" y="248"/>
                  <a:pt x="248" y="320"/>
                  <a:pt x="160" y="320"/>
                </a:cubicBezTo>
                <a:lnTo>
                  <a:pt x="160" y="320"/>
                </a:lnTo>
                <a:cubicBezTo>
                  <a:pt x="72" y="320"/>
                  <a:pt x="0" y="248"/>
                  <a:pt x="0" y="160"/>
                </a:cubicBezTo>
                <a:lnTo>
                  <a:pt x="0" y="160"/>
                </a:lnTo>
                <a:cubicBezTo>
                  <a:pt x="0" y="72"/>
                  <a:pt x="72" y="0"/>
                  <a:pt x="16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762000" y="3810000"/>
            <a:ext cx="2476500" cy="2476500"/>
          </a:xfrm>
          <a:custGeom>
            <a:pathLst>
              <a:path w="260" h="260">
                <a:moveTo>
                  <a:pt x="130" y="0"/>
                </a:moveTo>
                <a:lnTo>
                  <a:pt x="130" y="0"/>
                </a:lnTo>
                <a:cubicBezTo>
                  <a:pt x="202" y="0"/>
                  <a:pt x="260" y="58"/>
                  <a:pt x="260" y="130"/>
                </a:cubicBezTo>
                <a:lnTo>
                  <a:pt x="260" y="130"/>
                </a:lnTo>
                <a:cubicBezTo>
                  <a:pt x="260" y="202"/>
                  <a:pt x="202" y="260"/>
                  <a:pt x="130" y="260"/>
                </a:cubicBezTo>
                <a:lnTo>
                  <a:pt x="130" y="260"/>
                </a:lnTo>
                <a:cubicBezTo>
                  <a:pt x="58" y="260"/>
                  <a:pt x="0" y="202"/>
                  <a:pt x="0" y="130"/>
                </a:cubicBezTo>
                <a:lnTo>
                  <a:pt x="0" y="130"/>
                </a:lnTo>
                <a:cubicBezTo>
                  <a:pt x="0" y="58"/>
                  <a:pt x="58" y="0"/>
                  <a:pt x="13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&gt;&#10;  &lt;Box style={{ width: '1280px', height: '720px', background: '#F7FAFC', flexDirection: 'column', padding: '40px 70px' }}&gt;&#10;    &lt;Box style={{ flexDirection: 'row', alignItems: 'baseline', marginBottom: 36 }}&gt;&#10;      &lt;Text style={{ fontSize: 34, fontWeight: 'bold', color: '#1A365D' }}&gt;KR1 结构化硬指标&lt;/Text&gt;&#10;      &lt;Text style={{ fontSize: 18, color: '#718096', marginLeft: 14 }}&gt;官方 70 案 · 两项硬指标达标&lt;/Text&gt;&#10;    &lt;/Box&gt;&#10;&#10;    &lt;Box style={{ flexDirection: 'row', gap: 32, flex: 1 }}&gt;&#10;      {[&#10;        { val: '0.933', label: '标量字段准确率', sub: '目标 ≥ 0.90 · 达标', color: '#2B6CB0', ok: true },&#10;        { val: '1.09%', label: '关键字段缺失率', sub: '目标 &lt; 5% · 达标', color: '#38B2AC', ok: true },&#10;        { val: '0.849', label: '核心字段宏观 F1', sub: '目标 ≥ 0.90 · 差 0.05', color: '#1A365D', ok: false },&#10;      ].map((m, idx) =&gt; (&#10;        &lt;Box key={idx} style={{ flex: 1, borderRadius: 16, background: '#FFFFFF', padding: 36, flexDirection: 'column', justifyContent: 'center', alignItems: 'center', boxShadow: '0 4px 20px rgba(0,0,0,0.06)' }}&gt;&#10;          &lt;Text style={{ fontSize: 72, fontWeight: 'bold', color: m.color, lineHeight: 1 }}&gt;{m.val}&lt;/Text&gt;&#10;          &lt;Text style={{ fontSize: 22, fontWeight: 'bold', color: '#1A365D', marginTop: 20 }}&gt;{m.label}&lt;/Text&gt;&#10;          &lt;Box style={{ marginTop: 14, padding: '8px 16px', borderRadius: 20, background: m.ok ? '#E6FFFA' : '#FFF5F5', border: m.ok ? '1px solid #B2F5EA' : '1px solid #FED7D7' }}&gt;&#10;            &lt;Text style={{ fontSize: 16, color: m.ok ? '#2C7A7B' : '#C53030' }}&gt;{m.sub}&lt;/Text&gt;&#10;          &lt;/Box&gt;&#10;        &lt;/Box&gt;&#10;      ))}&#10;    &lt;/Box&gt;&#10;&#10;    &lt;Box style={{ marginTop: 32, padding: '20px 28px', borderRadius: 12, background: '#EBF8FF', border: '1px solid #BEE3F8' }}&gt;&#10;      &lt;Text style={{ fontSize: 18, color: '#2C5282', lineHeight: 1.6 }}&gt;&#10;        剩余 0.05 差距是真实的命名颗粒度问题（LLM 术式全称 vs 收费简称），已在 prompt 层优化（0.812 → 0.849），继续调参收益递减。&#10;      &lt;/Text&gt;&#10;    &lt;/Box&gt;&#10;&#10;    &lt;Box style={{ flexDirection: 'row', alignItems: 'center', marginTop: 20 }}&gt;&#10;      &lt;Text style={{ fontSize: 14, color: '#718096' }}&gt;医护洞察与温度指引引擎&lt;/Text&gt;&#10;      &lt;Text style={{ fontSize: 14, color: '#718096', marginLeft: 'auto' }}&gt;07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2695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365D"/>
                </a:solidFill>
                <a:latin typeface="Microsoft YaHei"/>
                <a:ea typeface="Microsoft YaHei"/>
              </a:rPr>
              <a:t>KR1 </a:t>
            </a: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结构化硬指标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495675" y="381000"/>
            <a:ext cx="2162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官方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70 </a:t>
            </a: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案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两项硬指标达标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66750" y="1114425"/>
            <a:ext cx="3419475" cy="3657600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428750" y="2066925"/>
            <a:ext cx="18954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B6CB0"/>
                </a:solidFill>
                <a:latin typeface="Microsoft YaHei"/>
                <a:ea typeface="Microsoft YaHei"/>
              </a:rPr>
              <a:t>0.933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647825" y="308610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标量字段准确率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600200" y="3476625"/>
            <a:ext cx="1552575" cy="342900"/>
          </a:xfrm>
          <a:prstGeom prst="roundRect">
            <a:avLst>
              <a:gd name="adj" fmla="val 55556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752600" y="3552825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7A7B"/>
                </a:solidFill>
                <a:latin typeface="Microsoft YaHei"/>
                <a:ea typeface="Microsoft YaHei"/>
              </a:rPr>
              <a:t>目标</a:t>
            </a:r>
            <a:r>
              <a:rPr lang="en-US" sz="1200">
                <a:solidFill>
                  <a:srgbClr val="2C7A7B"/>
                </a:solidFill>
                <a:latin typeface="Microsoft YaHei"/>
                <a:ea typeface="Microsoft YaHei"/>
              </a:rPr>
              <a:t> ≥ 0.90 · </a:t>
            </a:r>
            <a:r>
              <a:rPr lang="zh-CN" sz="1200">
                <a:solidFill>
                  <a:srgbClr val="2C7A7B"/>
                </a:solidFill>
                <a:latin typeface="Microsoft YaHei"/>
                <a:ea typeface="Microsoft YaHei"/>
              </a:rPr>
              <a:t>达标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391025" y="1114425"/>
            <a:ext cx="3409950" cy="3657600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21050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8B2AC"/>
                </a:solidFill>
                <a:latin typeface="Microsoft YaHei"/>
                <a:ea typeface="Microsoft YaHei"/>
              </a:rPr>
              <a:t>1.09%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362575" y="308610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关键字段缺失率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362575" y="3476625"/>
            <a:ext cx="1476375" cy="342900"/>
          </a:xfrm>
          <a:prstGeom prst="roundRect">
            <a:avLst>
              <a:gd name="adj" fmla="val 55556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14975" y="3552825"/>
            <a:ext cx="117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C7A7B"/>
                </a:solidFill>
                <a:latin typeface="Microsoft YaHei"/>
                <a:ea typeface="Microsoft YaHei"/>
              </a:rPr>
              <a:t>目标</a:t>
            </a:r>
            <a:r>
              <a:rPr lang="en-US" sz="1200">
                <a:solidFill>
                  <a:srgbClr val="2C7A7B"/>
                </a:solidFill>
                <a:latin typeface="Microsoft YaHei"/>
                <a:ea typeface="Microsoft YaHei"/>
              </a:rPr>
              <a:t> &lt; 5% · </a:t>
            </a:r>
            <a:r>
              <a:rPr lang="zh-CN" sz="1200">
                <a:solidFill>
                  <a:srgbClr val="2C7A7B"/>
                </a:solidFill>
                <a:latin typeface="Microsoft YaHei"/>
                <a:ea typeface="Microsoft YaHei"/>
              </a:rPr>
              <a:t>达标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105775" y="1114425"/>
            <a:ext cx="3419475" cy="3657600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867775" y="2066925"/>
            <a:ext cx="18954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A365D"/>
                </a:solidFill>
                <a:latin typeface="Microsoft YaHei"/>
                <a:ea typeface="Microsoft YaHei"/>
              </a:rPr>
              <a:t>0.849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029700" y="3086100"/>
            <a:ext cx="1571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365D"/>
                </a:solidFill>
                <a:latin typeface="Microsoft YaHei"/>
                <a:ea typeface="Microsoft YaHei"/>
              </a:rPr>
              <a:t>核心字段宏观</a:t>
            </a:r>
            <a:r>
              <a:rPr lang="en-US" sz="1650" b="1">
                <a:solidFill>
                  <a:srgbClr val="1A365D"/>
                </a:solidFill>
                <a:latin typeface="Microsoft YaHei"/>
                <a:ea typeface="Microsoft YaHei"/>
              </a:rPr>
              <a:t> F1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943975" y="3476625"/>
            <a:ext cx="1752600" cy="342900"/>
          </a:xfrm>
          <a:prstGeom prst="roundRect">
            <a:avLst>
              <a:gd name="adj" fmla="val 55556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096375" y="3552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53030"/>
                </a:solidFill>
                <a:latin typeface="Microsoft YaHei"/>
                <a:ea typeface="Microsoft YaHei"/>
              </a:rPr>
              <a:t>目标</a:t>
            </a:r>
            <a:r>
              <a:rPr lang="en-US" sz="1200">
                <a:solidFill>
                  <a:srgbClr val="C53030"/>
                </a:solidFill>
                <a:latin typeface="Microsoft YaHei"/>
                <a:ea typeface="Microsoft YaHei"/>
              </a:rPr>
              <a:t> ≥ 0.90 · </a:t>
            </a:r>
            <a:r>
              <a:rPr lang="zh-CN" sz="1200">
                <a:solidFill>
                  <a:srgbClr val="C53030"/>
                </a:solidFill>
                <a:latin typeface="Microsoft YaHei"/>
                <a:ea typeface="Microsoft YaHei"/>
              </a:rPr>
              <a:t>差</a:t>
            </a:r>
            <a:r>
              <a:rPr lang="en-US" sz="1200">
                <a:solidFill>
                  <a:srgbClr val="C53030"/>
                </a:solidFill>
                <a:latin typeface="Microsoft YaHei"/>
                <a:ea typeface="Microsoft YaHei"/>
              </a:rPr>
              <a:t> 0.05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66750" y="5076825"/>
            <a:ext cx="10858500" cy="1047750"/>
          </a:xfrm>
          <a:prstGeom prst="roundRect">
            <a:avLst>
              <a:gd name="adj" fmla="val 10909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33450" y="5267325"/>
            <a:ext cx="10325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剩余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 0.05 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差距是真实的命名颗粒度问题（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LLM 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术式全称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 vs 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收费简称），已在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 prompt 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层优化（</a:t>
            </a:r>
            <a:r>
              <a:rPr lang="en-US" sz="1350">
                <a:solidFill>
                  <a:srgbClr val="2C5282"/>
                </a:solidFill>
                <a:latin typeface="Microsoft YaHei"/>
                <a:ea typeface="Microsoft YaHei"/>
              </a:rPr>
              <a:t>0.812 → 0.849</a:t>
            </a:r>
            <a:r>
              <a:rPr lang="zh-CN" sz="1350">
                <a:solidFill>
                  <a:srgbClr val="2C5282"/>
                </a:solidFill>
                <a:latin typeface="Microsoft YaHei"/>
                <a:ea typeface="Microsoft YaHei"/>
              </a:rPr>
              <a:t>），继续调参收益递减。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&gt;&#10;  &lt;Box style={{ width: '1280px', height: '720px', background: '#FFFFFF', flexDirection: 'column', padding: '40px 70px' }}&gt;&#10;    &lt;Box style={{ flexDirection: 'row', alignItems: 'baseline', marginBottom: 32 }}&gt;&#10;      &lt;Text style={{ fontSize: 34, fontWeight: 'bold', color: '#1A365D' }}&gt;温度指引盲评&lt;/Text&gt;&#10;      &lt;Text style={{ fontSize: 18, color: '#718096', marginLeft: 14 }}&gt;3 病种 · 全部 ≥ 4/5&lt;/Text&gt;&#10;    &lt;/Box&gt;&#10;&#10;    &lt;Box style={{ flexDirection: 'row', gap: 28, flex: 1 }}&gt;&#10;      {/* 左：指引示意 */}&#10;      &lt;Box style={{ flex: 1, borderRadius: 16, background: '#EBF8FF', padding: 32, flexDirection: 'column', justifyContent: 'center', border: '1px solid #BEE3F8' }}&gt;&#10;        &lt;Text style={{ fontSize: 18, color: '#2B6CB0', fontWeight: 'bold', marginBottom: 16 }}&gt;一份真实的温度指引（节选）&lt;/Text&gt;&#10;        &lt;Text style={{ fontSize: 18, color: '#2C5282', lineHeight: 1.8, fontStyle: 'italic' }}&gt;&#10;          &quot;贾阿姨您好，这次因为右肩膀的问题住院手术，前后 4 天，您辛苦了……&quot;&#10;        &lt;/Text&gt;&#10;        &lt;Box style={{ marginTop: 20, padding: '14px 18px', borderRadius: 10, background: '#FFFFFF' }}&gt;&#10;          &lt;Text style={{ fontSize: 17, color: '#4A5568', lineHeight: 1.6 }}&gt;&#10;            锚定真实数字：住院 4 天 · 总费用 43603.13 元 · 肩袖破裂修补术 · 术后 2 周复查&#10;          &lt;/Text&gt;&#10;        &lt;/Box&gt;&#10;      &lt;/Box&gt;&#10;&#10;      {/* 右：盲评数据 */}&#10;      &lt;Box style={{ flex: 1, flexDirection: 'column', gap: 20, justifyContent: 'center' }}&gt;&#10;        {[&#10;          { d: '呼吸道感染 + 甲流', s: '4.58' },&#10;          { d: '多囊卵巢综合征', s: '4.92' },&#10;          { d: '乳房恶性肿瘤', s: '4.33' },&#10;        ].map((item, idx) =&gt; (&#10;          &lt;Box key={idx} style={{ flexDirection: 'row', alignItems: 'center', padding: '20px 24px', borderRadius: 12, background: '#F7FAFC', border: '1px solid #E2E8F0' }}&gt;&#10;            &lt;Box style={{ flex: 1 }}&gt;&#10;              &lt;Text style={{ fontSize: 20, fontWeight: 'bold', color: '#1A365D' }}&gt;{item.d}&lt;/Text&gt;&#10;            &lt;/Box&gt;&#10;            &lt;Text style={{ fontSize: 36, fontWeight: 'bold', color: '#2B6CB0' }}&gt;{item.s}&lt;/Text&gt;&#10;            &lt;Text style={{ fontSize: 16, color: '#718096', marginLeft: 8 }}&gt;/ 5&lt;/Text&gt;&#10;          &lt;/Box&gt;&#10;        ))}&#10;        &lt;Box style={{ padding: '16px 20px', borderRadius: 12, background: '#E6FFFA', border: '1px solid #B2F5EA' }}&gt;&#10;          &lt;Text style={{ fontSize: 17, color: '#2C7A7B', lineHeight: 1.6 }}&gt;&#10;            反模板自检：个性化分数 1.0 —— 温度建立在真实数据上，而非通用科普拼接。&#10;          &lt;/Text&gt;&#10;        &lt;/Box&gt;&#10;      &lt;/Box&gt;&#10;    &lt;/Box&gt;&#10;&#10;    &lt;Box style={{ flexDirection: 'row', alignItems: 'center', marginTop: 24 }}&gt;&#10;      &lt;Text style={{ fontSize: 14, color: '#718096' }}&gt;医护洞察与温度指引引擎&lt;/Text&gt;&#10;      &lt;Text style={{ fontSize: 14, color: '#718096', marginLeft: 'auto' }}&gt;08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温度指引盲评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743200" y="381000"/>
            <a:ext cx="1485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3 </a:t>
            </a: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病种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全部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≥ 4/5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66750" y="1076325"/>
            <a:ext cx="5295900" cy="5010150"/>
          </a:xfrm>
          <a:prstGeom prst="roundRect">
            <a:avLst>
              <a:gd name="adj" fmla="val 3042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B6CB0"/>
                </a:solidFill>
                <a:latin typeface="Microsoft YaHei"/>
                <a:ea typeface="Microsoft YaHei"/>
              </a:rPr>
              <a:t>一份真实的温度指引（节选）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71550" y="2847975"/>
            <a:ext cx="46863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350" i="1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r>
              <a:rPr lang="zh-CN" sz="1350" i="1">
                <a:solidFill>
                  <a:srgbClr val="2C5282"/>
                </a:solidFill>
                <a:latin typeface="Microsoft YaHei"/>
                <a:ea typeface="Microsoft YaHei"/>
              </a:rPr>
              <a:t>贾阿姨您好，这次因为右肩膀的问题住院手术，前后</a:t>
            </a:r>
            <a:r>
              <a:rPr lang="en-US" sz="1350" i="1">
                <a:solidFill>
                  <a:srgbClr val="2C5282"/>
                </a:solidFill>
                <a:latin typeface="Microsoft YaHei"/>
                <a:ea typeface="Microsoft YaHei"/>
              </a:rPr>
              <a:t> 4 </a:t>
            </a:r>
            <a:r>
              <a:rPr lang="zh-CN" sz="1350" i="1">
                <a:solidFill>
                  <a:srgbClr val="2C5282"/>
                </a:solidFill>
                <a:latin typeface="Microsoft YaHei"/>
                <a:ea typeface="Microsoft YaHei"/>
              </a:rPr>
              <a:t>天，您辛苦了……</a:t>
            </a:r>
            <a:r>
              <a:rPr lang="en-US" sz="1350" i="1">
                <a:solidFill>
                  <a:srgbClr val="2C528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971550" y="3781425"/>
            <a:ext cx="46863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43000" y="3914775"/>
            <a:ext cx="4343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锚定真实数字：住院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天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总费用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43603.13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元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肩袖破裂修补术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术后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周复查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229350" y="1628775"/>
            <a:ext cx="5295900" cy="80010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457950" y="1914525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呼吸道感染</a:t>
            </a:r>
            <a:r>
              <a:rPr lang="en-US" sz="1500" b="1">
                <a:solidFill>
                  <a:srgbClr val="1A365D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甲流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287000" y="1819275"/>
            <a:ext cx="733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B6CB0"/>
                </a:solidFill>
                <a:latin typeface="Microsoft YaHei"/>
                <a:ea typeface="Microsoft YaHei"/>
              </a:rPr>
              <a:t>4.58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096625" y="19335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/ 5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229350" y="2619375"/>
            <a:ext cx="5295900" cy="80010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457950" y="2905125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多囊卵巢综合征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287000" y="2809875"/>
            <a:ext cx="733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B6CB0"/>
                </a:solidFill>
                <a:latin typeface="Microsoft YaHei"/>
                <a:ea typeface="Microsoft YaHei"/>
              </a:rPr>
              <a:t>4.92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096625" y="29241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/ 5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229350" y="3609975"/>
            <a:ext cx="5295900" cy="80010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57950" y="3895725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乳房恶性肿瘤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0287000" y="3800475"/>
            <a:ext cx="733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B6CB0"/>
                </a:solidFill>
                <a:latin typeface="Microsoft YaHei"/>
                <a:ea typeface="Microsoft YaHei"/>
              </a:rPr>
              <a:t>4.33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096625" y="39147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/ 5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229350" y="4600575"/>
            <a:ext cx="5295900" cy="933450"/>
          </a:xfrm>
          <a:prstGeom prst="roundRect">
            <a:avLst>
              <a:gd name="adj" fmla="val 12245"/>
            </a:avLst>
          </a:prstGeom>
          <a:solidFill>
            <a:srgbClr val="E6FFFA"/>
          </a:solidFill>
          <a:ln w="12700">
            <a:solidFill>
              <a:srgbClr val="B2F5EA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19850" y="4752975"/>
            <a:ext cx="4914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C7A7B"/>
                </a:solidFill>
                <a:latin typeface="Microsoft YaHei"/>
                <a:ea typeface="Microsoft YaHei"/>
              </a:rPr>
              <a:t>反模板自检：个性化分数</a:t>
            </a:r>
            <a:r>
              <a:rPr lang="en-US" sz="1275">
                <a:solidFill>
                  <a:srgbClr val="2C7A7B"/>
                </a:solidFill>
                <a:latin typeface="Microsoft YaHei"/>
                <a:ea typeface="Microsoft YaHei"/>
              </a:rPr>
              <a:t> 1.0 —— </a:t>
            </a:r>
            <a:r>
              <a:rPr lang="zh-CN" sz="1275">
                <a:solidFill>
                  <a:srgbClr val="2C7A7B"/>
                </a:solidFill>
                <a:latin typeface="Microsoft YaHei"/>
                <a:ea typeface="Microsoft YaHei"/>
              </a:rPr>
              <a:t>温度建立在真实数据上，而非通用科普拼接。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&gt;&#10;  &lt;Box style={{ width: '1280px', height: '720px', background: '#FFFFFF', flexDirection: 'column', padding: '40px 70px' }}&gt;&#10;    &lt;Box style={{ flexDirection: 'row', alignItems: 'baseline', marginBottom: 32 }}&gt;&#10;      &lt;Text style={{ fontSize: 34, fontWeight: 'bold', color: '#1A365D' }}&gt;品质画像&lt;/Text&gt;&#10;      &lt;Text style={{ fontSize: 18, color: '#718096', marginLeft: 14 }}&gt;纯数据驱动 · 可解释可溯源&lt;/Text&gt;&#10;    &lt;/Box&gt;&#10;&#10;    &lt;Box style={{ flexDirection: 'row', gap: 28, flex: 1 }}&gt;&#10;      {/* 左：维度 */}&#10;      &lt;Box style={{ flex: 1.1, flexDirection: 'column', justifyContent: 'center' }}&gt;&#10;        &lt;Text style={{ fontSize: 20, fontWeight: 'bold', color: '#1A365D', marginBottom: 20 }}&gt;7 个画像维度（目标 ≥ 5）&lt;/Text&gt;&#10;        &lt;Box style={{ flexDirection: 'row', flexWrap: 'wrap', gap: 12 }}&gt;&#10;          {['费用效率', '平均住院天数', '自费比例', '用药合理性', '治疗规范性', '再入院率', '患者满意度'].map((d, idx) =&gt; (&#10;            &lt;Box key={idx} style={{ padding: '12px 20px', borderRadius: 24, background: '#EBF8FF', border: '1px solid #BEE3F8' }}&gt;&#10;              &lt;Text style={{ fontSize: 18, color: '#2B6CB0' }}&gt;{d}&lt;/Text&gt;&#10;            &lt;/Box&gt;&#10;          ))}&#10;        &lt;/Box&gt;&#10;        &lt;Text style={{ fontSize: 18, color: '#4A5568', lineHeight: 1.6, marginTop: 24 }}&gt;&#10;          覆盖 &lt;Text style={{ fontWeight: 'bold', color: '#1A365D' }}&gt;62 病种 × 79 机构&lt;/Text&gt;，远超&quot;≥3 病种 × ≥5 机构&quot;要求。&#10;        &lt;/Text&gt;&#10;      &lt;/Box&gt;&#10;&#10;      {/* 右：可解释推荐 */}&#10;      &lt;Box style={{ flex: 1, borderRadius: 16, background: '#F7FAFC', padding: 32, flexDirection: 'column', justifyContent: 'center', border: '1px solid #E2E8F0' }}&gt;&#10;        &lt;Text style={{ fontSize: 20, fontWeight: 'bold', color: '#1A365D', marginBottom: 16 }}&gt;每条推荐 2~6 条量化理由&lt;/Text&gt;&#10;        &lt;Box style={{ padding: '16px 20px', borderRadius: 10, background: '#FFFFFF', marginBottom: 12 }}&gt;&#10;          &lt;Text style={{ fontSize: 17, color: '#4A5568', lineHeight: 1.7 }}&gt;&#10;            · 费用效率 2384.32 元，比该病种均值 2935.32 元 &lt;Text style={{ fontWeight: 'bold', color: '#2C7A7B' }}&gt;低 19%&lt;/Text&gt;&#10;          &lt;/Text&gt;&#10;        &lt;/Box&gt;&#10;        &lt;Box style={{ padding: '16px 20px', borderRadius: 10, background: '#FFFFFF' }}&gt;&#10;          &lt;Text style={{ fontSize: 17, color: '#4A5568', lineHeight: 1.7 }}&gt;&#10;            · 自费比例 5.07%，比该病种均值 10.60% &lt;Text style={{ fontWeight: 'bold', color: '#2C7A7B' }}&gt;低 52%&lt;/Text&gt;&#10;          &lt;/Text&gt;&#10;        &lt;/Box&gt;&#10;        &lt;Text style={{ fontSize: 16, color: '#718096', marginTop: 16, fontStyle: 'italic' }}&gt;每条理由都溯源到数据字段，不靠 LLM 自由发挥。&lt;/Text&gt;&#10;      &lt;/Box&gt;&#10;    &lt;/Box&gt;&#10;&#10;    &lt;Box style={{ flexDirection: 'row', alignItems: 'center', marginTop: 24 }}&gt;&#10;      &lt;Text style={{ fontSize: 14, color: '#718096' }}&gt;医护洞察与温度指引引擎&lt;/Text&gt;&#10;      &lt;Text style={{ fontSize: 14, color: '#718096', marginLeft: 'auto' }}&gt;09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品质画像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095500" y="381000"/>
            <a:ext cx="2028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纯数据驱动</a:t>
            </a:r>
            <a:r>
              <a:rPr lang="en-US" sz="1350">
                <a:solidFill>
                  <a:srgbClr val="71809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可解释可溯源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66750" y="2600325"/>
            <a:ext cx="5543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365D"/>
                </a:solidFill>
                <a:latin typeface="Microsoft YaHei"/>
                <a:ea typeface="Microsoft YaHei"/>
              </a:rPr>
              <a:t>7 </a:t>
            </a: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个画像维度（目标</a:t>
            </a:r>
            <a:r>
              <a:rPr lang="en-US" sz="1500" b="1">
                <a:solidFill>
                  <a:srgbClr val="1A365D"/>
                </a:solidFill>
                <a:latin typeface="Microsoft YaHei"/>
                <a:ea typeface="Microsoft YaHei"/>
              </a:rPr>
              <a:t> ≥ 5</a:t>
            </a: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66750" y="3019425"/>
            <a:ext cx="106680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费用效率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1847850" y="3019425"/>
            <a:ext cx="140970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038350" y="31337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平均住院天数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371850" y="3019425"/>
            <a:ext cx="106680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562350" y="3133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自费比例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552950" y="3019425"/>
            <a:ext cx="123825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743450" y="31337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用药合理性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66750" y="3571875"/>
            <a:ext cx="123825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57250" y="36861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治疗规范性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2019300" y="3571875"/>
            <a:ext cx="106680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209800" y="36861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再入院率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200400" y="3571875"/>
            <a:ext cx="1238250" cy="438150"/>
          </a:xfrm>
          <a:prstGeom prst="roundRect">
            <a:avLst>
              <a:gd name="adj" fmla="val 5217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390900" y="36861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B6CB0"/>
                </a:solidFill>
                <a:latin typeface="Microsoft YaHei"/>
                <a:ea typeface="Microsoft YaHei"/>
              </a:rPr>
              <a:t>患者满意度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66750" y="4238625"/>
            <a:ext cx="55435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覆盖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62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病种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× 79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机构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，远超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"≥3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病种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× ≥5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机构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要求。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477000" y="1076325"/>
            <a:ext cx="5048250" cy="5010150"/>
          </a:xfrm>
          <a:prstGeom prst="roundRect">
            <a:avLst>
              <a:gd name="adj" fmla="val 3042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781800" y="2362200"/>
            <a:ext cx="443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每条推荐</a:t>
            </a:r>
            <a:r>
              <a:rPr lang="en-US" sz="1500" b="1">
                <a:solidFill>
                  <a:srgbClr val="1A365D"/>
                </a:solidFill>
                <a:latin typeface="Microsoft YaHei"/>
                <a:ea typeface="Microsoft YaHei"/>
              </a:rPr>
              <a:t> 2~6 </a:t>
            </a: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条量化理由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781800" y="2743200"/>
            <a:ext cx="4438650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972300" y="2895600"/>
            <a:ext cx="40576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费用效率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2384.32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元，比该病种均值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2935.32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元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19%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781800" y="3829050"/>
            <a:ext cx="4438650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972300" y="3981450"/>
            <a:ext cx="40576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自费比例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5.07%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，比该病种均值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10.60%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52%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781800" y="4619625"/>
            <a:ext cx="443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i="1">
                <a:solidFill>
                  <a:srgbClr val="718096"/>
                </a:solidFill>
                <a:latin typeface="Microsoft YaHei"/>
                <a:ea typeface="Microsoft YaHei"/>
              </a:rPr>
              <a:t>每条理由都溯源到数据字段，不靠</a:t>
            </a:r>
            <a:r>
              <a:rPr lang="en-US" sz="1200" i="1">
                <a:solidFill>
                  <a:srgbClr val="718096"/>
                </a:solidFill>
                <a:latin typeface="Microsoft YaHei"/>
                <a:ea typeface="Microsoft YaHei"/>
              </a:rPr>
              <a:t> LLM </a:t>
            </a:r>
            <a:r>
              <a:rPr lang="zh-CN" sz="1200" i="1">
                <a:solidFill>
                  <a:srgbClr val="718096"/>
                </a:solidFill>
                <a:latin typeface="Microsoft YaHei"/>
                <a:ea typeface="Microsoft YaHei"/>
              </a:rPr>
              <a:t>自由发挥。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 descr="&lt;Slide&gt;&#10;  &lt;Box style={{ width: '1280px', height: '720px', position: 'relative', background: 'linear-gradient(135deg, #2B6CB0 0%, #38B2AC 100%)', flexDirection: 'column', justifyContent: 'center', alignItems: 'center' }}&gt;&#10;    &lt;Box style={{ position: 'absolute', top: 80, right: 100, width: 320, height: 320, borderRadius: '50%', background: 'rgba(255,255,255,0.1)' }} /&gt;&#10;    &lt;Box style={{ position: 'absolute', bottom: 60, left: 80, width: 260, height: 260, borderRadius: '50%', background: 'rgba(255,255,255,0.08)' }} /&gt;&#10;    &lt;Text style={{ fontSize: 24, color: 'rgba(255,255,255,0.85)', letterSpacing: 6, marginBottom: 24 }}&gt;CHAPTER 03&lt;/Text&gt;&#10;    &lt;Text style={{ fontSize: 60, fontWeight: 'bold', color: '#FFFFFF', marginBottom: 20 }}&gt;落地与合规&lt;/Text&gt;&#10;    &lt;Text style={{ fontSize: 22, color: 'rgba(255,255,255,0.9)' }}&gt;温度指引如何触达患者 · 如何安全落地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6CB0"/>
              </a:gs>
              <a:gs pos="100000">
                <a:srgbClr val="38B2A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124450" y="2609850"/>
            <a:ext cx="1952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4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667250" y="3114675"/>
            <a:ext cx="2857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落地与合规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333875" y="3990975"/>
            <a:ext cx="3533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温度指引如何触达患者</a:t>
            </a:r>
            <a:r>
              <a:rPr lang="en-US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如何安全落地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191500" y="762000"/>
            <a:ext cx="3048000" cy="3048000"/>
          </a:xfrm>
          <a:custGeom>
            <a:pathLst>
              <a:path w="320" h="320">
                <a:moveTo>
                  <a:pt x="160" y="0"/>
                </a:moveTo>
                <a:lnTo>
                  <a:pt x="160" y="0"/>
                </a:lnTo>
                <a:cubicBezTo>
                  <a:pt x="248" y="0"/>
                  <a:pt x="320" y="72"/>
                  <a:pt x="320" y="160"/>
                </a:cubicBezTo>
                <a:lnTo>
                  <a:pt x="320" y="160"/>
                </a:lnTo>
                <a:cubicBezTo>
                  <a:pt x="320" y="248"/>
                  <a:pt x="248" y="320"/>
                  <a:pt x="160" y="320"/>
                </a:cubicBezTo>
                <a:lnTo>
                  <a:pt x="160" y="320"/>
                </a:lnTo>
                <a:cubicBezTo>
                  <a:pt x="72" y="320"/>
                  <a:pt x="0" y="248"/>
                  <a:pt x="0" y="160"/>
                </a:cubicBezTo>
                <a:lnTo>
                  <a:pt x="0" y="160"/>
                </a:lnTo>
                <a:cubicBezTo>
                  <a:pt x="0" y="72"/>
                  <a:pt x="72" y="0"/>
                  <a:pt x="16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762000" y="3810000"/>
            <a:ext cx="2476500" cy="2476500"/>
          </a:xfrm>
          <a:custGeom>
            <a:pathLst>
              <a:path w="260" h="260">
                <a:moveTo>
                  <a:pt x="130" y="0"/>
                </a:moveTo>
                <a:lnTo>
                  <a:pt x="130" y="0"/>
                </a:lnTo>
                <a:cubicBezTo>
                  <a:pt x="202" y="0"/>
                  <a:pt x="260" y="58"/>
                  <a:pt x="260" y="130"/>
                </a:cubicBezTo>
                <a:lnTo>
                  <a:pt x="260" y="130"/>
                </a:lnTo>
                <a:cubicBezTo>
                  <a:pt x="260" y="202"/>
                  <a:pt x="202" y="260"/>
                  <a:pt x="130" y="260"/>
                </a:cubicBezTo>
                <a:lnTo>
                  <a:pt x="130" y="260"/>
                </a:lnTo>
                <a:cubicBezTo>
                  <a:pt x="58" y="260"/>
                  <a:pt x="0" y="202"/>
                  <a:pt x="0" y="130"/>
                </a:cubicBezTo>
                <a:lnTo>
                  <a:pt x="0" y="130"/>
                </a:lnTo>
                <a:cubicBezTo>
                  <a:pt x="0" y="58"/>
                  <a:pt x="58" y="0"/>
                  <a:pt x="13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&gt;&#10;  &lt;Box style={{ width: '1280px', height: '720px', background: '#FFFFFF', flexDirection: 'column', padding: '40px 70px' }}&gt;&#10;    &lt;Box style={{ flexDirection: 'row', alignItems: 'baseline', marginBottom: 32 }}&gt;&#10;      &lt;Text style={{ fontSize: 34, fontWeight: 'bold', color: '#1A365D' }}&gt;触达闭环与合规&lt;/Text&gt;&#10;      &lt;Text style={{ fontSize: 18, color: '#718096', marginLeft: 14 }}&gt;从技术能力到实际价值&lt;/Text&gt;&#10;    &lt;/Box&gt;&#10;&#10;    &lt;Box style={{ flexDirection: 'row', gap: 28, flex: 1 }}&gt;&#10;      {/* 左：触达 + 闭环 */}&#10;      &lt;Box style={{ flex: 1.1, flexDirection: 'column', gap: 16, justifyContent: 'center' }}&gt;&#10;        &lt;Text style={{ fontSize: 20, fontWeight: 'bold', color: '#1A365D', marginBottom: 4 }}&gt;三条触达路径&lt;/Text&gt;&#10;        {[&#10;          { t: '结案即时触达', d: '理赔结案通知里附带&quot;就医复盘指引&quot;' },&#10;          { t: '主动关怀外呼/企微', d: '针对高风险痛点患者主动回访' },&#10;          { t: 'App/小程序自助查看', d: '长期健康档案沉淀' },&#10;        ].map((item, idx) =&gt; (&#10;          &lt;Box key={idx} style={{ flexDirection: 'row', alignItems: 'center', padding: '14px 20px', borderRadius: 10, background: '#F7FAFC', border: '1px solid #E2E8F0' }}&gt;&#10;            &lt;Box style={{ width: 28, height: 28, borderRadius: '50%', background: '#2B6CB0', alignItems: 'center', justifyContent: 'center', marginRight: 14 }}&gt;&#10;              &lt;Text style={{ fontSize: 14, fontWeight: 'bold', color: '#FFFFFF' }}&gt;{idx + 1}&lt;/Text&gt;&#10;            &lt;/Box&gt;&#10;            &lt;Box&gt;&#10;              &lt;Text style={{ fontSize: 18, fontWeight: 'bold', color: '#1A365D' }}&gt;{item.t}&lt;/Text&gt;&#10;              &lt;Text style={{ fontSize: 16, color: '#718096' }}&gt;{item.d}&lt;/Text&gt;&#10;            &lt;/Box&gt;&#10;          &lt;/Box&gt;&#10;        ))}&#10;        &lt;Text style={{ fontSize: 16, color: '#2C7A7B', marginTop: 4, fontStyle: 'italic' }}&gt;&#10;          反馈闭环：采纳率 → 标注 → prompt/规则迭代 → 再输出&#10;        &lt;/Text&gt;&#10;      &lt;/Box&gt;&#10;&#10;      {/* 右：合规 */}&#10;      &lt;Box style={{ flex: 0.9, borderRadius: 16, background: 'linear-gradient(135deg, #1A365D 0%, #2B6CB0 100%)', padding: 32, flexDirection: 'column', justifyContent: 'center' }}&gt;&#10;        &lt;Text style={{ fontSize: 20, fontWeight: 'bold', color: '#7FD1CD', marginBottom: 20 }}&gt;5 项合规设计&lt;/Text&gt;&#10;        {['数据最小化', '展示前二次脱敏', '免责声明', '本地推理优先', '可审计（置信度+证据）'].map((c, idx) =&gt; (&#10;          &lt;Box key={idx} style={{ flexDirection: 'row', alignItems: 'center', marginBottom: 14 }}&gt;&#10;            &lt;Text style={{ fontSize: 16, color: '#38B2AC', marginRight: 12 }}&gt;✓&lt;/Text&gt;&#10;            &lt;Text style={{ fontSize: 18, color: '#FFFFFF' }}&gt;{c}&lt;/Text&gt;&#10;          &lt;/Box&gt;&#10;        ))}&#10;      &lt;/Box&gt;&#10;    &lt;/Box&gt;&#10;&#10;    &lt;Box style={{ flexDirection: 'row', alignItems: 'center', marginTop: 24 }}&gt;&#10;      &lt;Text style={{ fontSize: 14, color: '#718096' }}&gt;医护洞察与温度指引引擎&lt;/Text&gt;&#10;      &lt;Text style={{ fontSize: 14, color: '#718096', marginLeft: 'auto' }}&gt;11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66750" y="3810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365D"/>
                </a:solidFill>
                <a:latin typeface="Microsoft YaHei"/>
                <a:ea typeface="Microsoft YaHei"/>
              </a:rPr>
              <a:t>触达闭环与合规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067050" y="381000"/>
            <a:ext cx="171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18096"/>
                </a:solidFill>
                <a:latin typeface="Microsoft YaHei"/>
                <a:ea typeface="Microsoft YaHei"/>
              </a:rPr>
              <a:t>从技术能力到实际价值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66750" y="2028825"/>
            <a:ext cx="582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365D"/>
                </a:solidFill>
                <a:latin typeface="Microsoft YaHei"/>
                <a:ea typeface="Microsoft YaHei"/>
              </a:rPr>
              <a:t>三条触达路径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66750" y="2447925"/>
            <a:ext cx="5829300" cy="66675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857250" y="2647950"/>
            <a:ext cx="266700" cy="266700"/>
          </a:xfrm>
          <a:custGeom>
            <a:pathLst>
              <a:path w="28" h="28">
                <a:moveTo>
                  <a:pt x="14" y="0"/>
                </a:moveTo>
                <a:lnTo>
                  <a:pt x="14" y="0"/>
                </a:lnTo>
                <a:cubicBezTo>
                  <a:pt x="22" y="0"/>
                  <a:pt x="28" y="6"/>
                  <a:pt x="28" y="14"/>
                </a:cubicBezTo>
                <a:lnTo>
                  <a:pt x="28" y="14"/>
                </a:lnTo>
                <a:cubicBezTo>
                  <a:pt x="28" y="22"/>
                  <a:pt x="22" y="28"/>
                  <a:pt x="14" y="28"/>
                </a:cubicBezTo>
                <a:lnTo>
                  <a:pt x="14" y="28"/>
                </a:lnTo>
                <a:cubicBezTo>
                  <a:pt x="6" y="28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52500" y="27051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257300" y="2581275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365D"/>
                </a:solidFill>
                <a:latin typeface="Microsoft YaHei"/>
                <a:ea typeface="Microsoft YaHei"/>
              </a:rPr>
              <a:t>结案即时触达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57300" y="2790825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理赔结案通知里附带</a:t>
            </a: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就医复盘指引</a:t>
            </a:r>
            <a:r>
              <a:rPr lang="en-US" sz="1200">
                <a:solidFill>
                  <a:srgbClr val="718096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66750" y="3267075"/>
            <a:ext cx="5829300" cy="66675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857250" y="3467100"/>
            <a:ext cx="266700" cy="266700"/>
          </a:xfrm>
          <a:custGeom>
            <a:pathLst>
              <a:path w="28" h="28">
                <a:moveTo>
                  <a:pt x="14" y="0"/>
                </a:moveTo>
                <a:lnTo>
                  <a:pt x="14" y="0"/>
                </a:lnTo>
                <a:cubicBezTo>
                  <a:pt x="22" y="0"/>
                  <a:pt x="28" y="6"/>
                  <a:pt x="28" y="14"/>
                </a:cubicBezTo>
                <a:lnTo>
                  <a:pt x="28" y="14"/>
                </a:lnTo>
                <a:cubicBezTo>
                  <a:pt x="28" y="22"/>
                  <a:pt x="22" y="28"/>
                  <a:pt x="14" y="28"/>
                </a:cubicBezTo>
                <a:lnTo>
                  <a:pt x="14" y="28"/>
                </a:lnTo>
                <a:cubicBezTo>
                  <a:pt x="6" y="28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52500" y="35242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257300" y="3400425"/>
            <a:ext cx="198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365D"/>
                </a:solidFill>
                <a:latin typeface="Microsoft YaHei"/>
                <a:ea typeface="Microsoft YaHei"/>
              </a:rPr>
              <a:t>主动关怀外呼</a:t>
            </a:r>
            <a:r>
              <a:rPr lang="en-US" sz="1350" b="1">
                <a:solidFill>
                  <a:srgbClr val="1A365D"/>
                </a:solidFill>
                <a:latin typeface="Microsoft YaHei"/>
                <a:ea typeface="Microsoft YaHei"/>
              </a:rPr>
              <a:t>/</a:t>
            </a:r>
            <a:r>
              <a:rPr lang="zh-CN" sz="1350" b="1">
                <a:solidFill>
                  <a:srgbClr val="1A365D"/>
                </a:solidFill>
                <a:latin typeface="Microsoft YaHei"/>
                <a:ea typeface="Microsoft YaHei"/>
              </a:rPr>
              <a:t>企微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257300" y="36099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针对高风险痛点患者主动回访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66750" y="4086225"/>
            <a:ext cx="5829300" cy="66675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57250" y="4286250"/>
            <a:ext cx="266700" cy="266700"/>
          </a:xfrm>
          <a:custGeom>
            <a:pathLst>
              <a:path w="28" h="28">
                <a:moveTo>
                  <a:pt x="14" y="0"/>
                </a:moveTo>
                <a:lnTo>
                  <a:pt x="14" y="0"/>
                </a:lnTo>
                <a:cubicBezTo>
                  <a:pt x="22" y="0"/>
                  <a:pt x="28" y="6"/>
                  <a:pt x="28" y="14"/>
                </a:cubicBezTo>
                <a:lnTo>
                  <a:pt x="28" y="14"/>
                </a:lnTo>
                <a:cubicBezTo>
                  <a:pt x="28" y="22"/>
                  <a:pt x="22" y="28"/>
                  <a:pt x="14" y="28"/>
                </a:cubicBezTo>
                <a:lnTo>
                  <a:pt x="14" y="28"/>
                </a:lnTo>
                <a:cubicBezTo>
                  <a:pt x="6" y="28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B6CB0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52500" y="43434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257300" y="4219575"/>
            <a:ext cx="164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365D"/>
                </a:solidFill>
                <a:latin typeface="Microsoft YaHei"/>
                <a:ea typeface="Microsoft YaHei"/>
              </a:rPr>
              <a:t>App/</a:t>
            </a:r>
            <a:r>
              <a:rPr lang="zh-CN" sz="1350" b="1">
                <a:solidFill>
                  <a:srgbClr val="1A365D"/>
                </a:solidFill>
                <a:latin typeface="Microsoft YaHei"/>
                <a:ea typeface="Microsoft YaHei"/>
              </a:rPr>
              <a:t>小程序自助查看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257300" y="4429125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18096"/>
                </a:solidFill>
                <a:latin typeface="Microsoft YaHei"/>
                <a:ea typeface="Microsoft YaHei"/>
              </a:rPr>
              <a:t>长期健康档案沉淀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66750" y="4943475"/>
            <a:ext cx="582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i="1">
                <a:solidFill>
                  <a:srgbClr val="2C7A7B"/>
                </a:solidFill>
                <a:latin typeface="Microsoft YaHei"/>
                <a:ea typeface="Microsoft YaHei"/>
              </a:rPr>
              <a:t>反馈闭环：采纳率</a:t>
            </a:r>
            <a:r>
              <a:rPr lang="en-US" sz="1200" i="1">
                <a:solidFill>
                  <a:srgbClr val="2C7A7B"/>
                </a:solidFill>
                <a:latin typeface="Microsoft YaHei"/>
                <a:ea typeface="Microsoft YaHei"/>
              </a:rPr>
              <a:t> → </a:t>
            </a:r>
            <a:r>
              <a:rPr lang="zh-CN" sz="1200" i="1">
                <a:solidFill>
                  <a:srgbClr val="2C7A7B"/>
                </a:solidFill>
                <a:latin typeface="Microsoft YaHei"/>
                <a:ea typeface="Microsoft YaHei"/>
              </a:rPr>
              <a:t>标注</a:t>
            </a:r>
            <a:r>
              <a:rPr lang="en-US" sz="1200" i="1">
                <a:solidFill>
                  <a:srgbClr val="2C7A7B"/>
                </a:solidFill>
                <a:latin typeface="Microsoft YaHei"/>
                <a:ea typeface="Microsoft YaHei"/>
              </a:rPr>
              <a:t> → prompt/</a:t>
            </a:r>
            <a:r>
              <a:rPr lang="zh-CN" sz="1200" i="1">
                <a:solidFill>
                  <a:srgbClr val="2C7A7B"/>
                </a:solidFill>
                <a:latin typeface="Microsoft YaHei"/>
                <a:ea typeface="Microsoft YaHei"/>
              </a:rPr>
              <a:t>规则迭代</a:t>
            </a:r>
            <a:r>
              <a:rPr lang="en-US" sz="1200" i="1">
                <a:solidFill>
                  <a:srgbClr val="2C7A7B"/>
                </a:solidFill>
                <a:latin typeface="Microsoft YaHei"/>
                <a:ea typeface="Microsoft YaHei"/>
              </a:rPr>
              <a:t> → </a:t>
            </a:r>
            <a:r>
              <a:rPr lang="zh-CN" sz="1200" i="1">
                <a:solidFill>
                  <a:srgbClr val="2C7A7B"/>
                </a:solidFill>
                <a:latin typeface="Microsoft YaHei"/>
                <a:ea typeface="Microsoft YaHei"/>
              </a:rPr>
              <a:t>再输出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762750" y="1076325"/>
            <a:ext cx="4762500" cy="5010150"/>
          </a:xfrm>
          <a:prstGeom prst="roundRect">
            <a:avLst>
              <a:gd name="adj" fmla="val 3200"/>
            </a:avLst>
          </a:prstGeom>
          <a:gradFill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067550" y="2514600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FD1CD"/>
                </a:solidFill>
                <a:latin typeface="Microsoft YaHei"/>
                <a:ea typeface="Microsoft YaHei"/>
              </a:rPr>
              <a:t>5 </a:t>
            </a:r>
            <a:r>
              <a:rPr lang="zh-CN" sz="1500" b="1">
                <a:solidFill>
                  <a:srgbClr val="7FD1CD"/>
                </a:solidFill>
                <a:latin typeface="Microsoft YaHei"/>
                <a:ea typeface="Microsoft YaHei"/>
              </a:rPr>
              <a:t>项合规设计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067550" y="29432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2AC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334250" y="2933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数据最小化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067550" y="32861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2AC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334250" y="32766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展示前二次脱敏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067550" y="36290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2AC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334250" y="36195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免责声明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67550" y="3971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2AC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334250" y="39624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本地推理优先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067550" y="43148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2AC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334250" y="4305300"/>
            <a:ext cx="184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可审计（置信度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证据）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18096"/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18096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&gt;&#10;  &lt;Box style={{ width: '1280px', height: '720px', position: 'relative', background: 'linear-gradient(135deg, #1A365D 0%, #2B6CB0 55%, #38B2AC 100%)', flexDirection: 'column', justifyContent: 'center', alignItems: 'center' }}&gt;&#10;    &lt;Box style={{ position: 'absolute', top: 60, right: 80, width: 300, height: 300, borderRadius: '50%', background: 'rgba(255,255,255,0.08)' }} /&gt;&#10;    &lt;Box style={{ position: 'absolute', bottom: 60, left: 80, width: 240, height: 240, borderRadius: '50%', background: 'rgba(255,255,255,0.06)' }} /&gt;&#10;    &lt;Text style={{ fontSize: 48, fontWeight: 'bold', color: '#FFFFFF', textAlign: 'center', lineHeight: 1.4, marginBottom: 32, maxWidth: 900 }}&gt;&#10;      让每一份理赔病历，&lt;br /&gt;都多一份有温度的答案&#10;    &lt;/Text&gt;&#10;    &lt;Text style={{ fontSize: 22, color: 'rgba(255,255,255,0.85)', marginBottom: 48 }}&gt;结构化 · 洞察 · 指引 · 画像 —— 数据可溯源，温度有依据&lt;/Text&gt;&#10;    &lt;Text style={{ fontSize: 16, color: 'rgba(255,255,255,0.6)' }}&gt;谢谢观看 · 医护洞察与温度指引引擎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55000">
                <a:srgbClr val="2B6CB0"/>
              </a:gs>
              <a:gs pos="100000">
                <a:srgbClr val="38B2A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0" y="2057400"/>
            <a:ext cx="4572000" cy="15430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让每一份理赔病历，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都多一份有温度的答案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448050" y="390525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结构化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洞察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指引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画像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数据可溯源，温度有依据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886325" y="4619625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谢谢观看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医护洞察与温度指引引擎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572500" y="5715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762000" y="4000500"/>
            <a:ext cx="2286000" cy="2286000"/>
          </a:xfrm>
          <a:custGeom>
            <a:pathLst>
              <a:path w="240" h="240">
                <a:moveTo>
                  <a:pt x="120" y="0"/>
                </a:moveTo>
                <a:lnTo>
                  <a:pt x="120" y="0"/>
                </a:lnTo>
                <a:cubicBezTo>
                  <a:pt x="186" y="0"/>
                  <a:pt x="240" y="54"/>
                  <a:pt x="240" y="120"/>
                </a:cubicBezTo>
                <a:lnTo>
                  <a:pt x="240" y="120"/>
                </a:lnTo>
                <a:cubicBezTo>
                  <a:pt x="240" y="186"/>
                  <a:pt x="186" y="240"/>
                  <a:pt x="120" y="240"/>
                </a:cubicBezTo>
                <a:lnTo>
                  <a:pt x="120" y="240"/>
                </a:lnTo>
                <a:cubicBezTo>
                  <a:pt x="54" y="240"/>
                  <a:pt x="0" y="186"/>
                  <a:pt x="0" y="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2026-10-13T12:10:04Z</dcterms:created>
  <dcterms:modified xsi:type="dcterms:W3CDTF">2026-10-13T12:10:04Z</dcterms:modified>
</cp:coreProperties>
</file>